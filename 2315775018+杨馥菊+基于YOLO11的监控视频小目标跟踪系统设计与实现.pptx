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31"/>
  </p:notesMasterIdLst>
  <p:handoutMasterIdLst>
    <p:handoutMasterId r:id="rId32"/>
  </p:handoutMasterIdLst>
  <p:sldIdLst>
    <p:sldId id="288" r:id="rId4"/>
    <p:sldId id="261" r:id="rId5"/>
    <p:sldId id="307" r:id="rId6"/>
    <p:sldId id="278" r:id="rId7"/>
    <p:sldId id="291" r:id="rId8"/>
    <p:sldId id="281" r:id="rId9"/>
    <p:sldId id="296" r:id="rId10"/>
    <p:sldId id="299" r:id="rId11"/>
    <p:sldId id="280" r:id="rId12"/>
    <p:sldId id="282" r:id="rId13"/>
    <p:sldId id="283" r:id="rId14"/>
    <p:sldId id="297" r:id="rId15"/>
    <p:sldId id="284" r:id="rId16"/>
    <p:sldId id="285" r:id="rId17"/>
    <p:sldId id="301" r:id="rId18"/>
    <p:sldId id="313" r:id="rId19"/>
    <p:sldId id="303" r:id="rId20"/>
    <p:sldId id="304" r:id="rId21"/>
    <p:sldId id="306" r:id="rId22"/>
    <p:sldId id="298" r:id="rId23"/>
    <p:sldId id="286" r:id="rId24"/>
    <p:sldId id="310" r:id="rId25"/>
    <p:sldId id="311" r:id="rId26"/>
    <p:sldId id="312" r:id="rId27"/>
    <p:sldId id="308" r:id="rId28"/>
    <p:sldId id="309" r:id="rId29"/>
    <p:sldId id="290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2770" y="1431824"/>
            <a:ext cx="6872756" cy="3865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5830" y="5512523"/>
            <a:ext cx="5886637" cy="451024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image" Target="../media/image1.png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image" Target="../media/image2.png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0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image" Target="../media/image3.png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0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image" Target="../media/image4.png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1" Type="http://schemas.openxmlformats.org/officeDocument/2006/relationships/tags" Target="../tags/tag236.xml"/><Relationship Id="rId20" Type="http://schemas.openxmlformats.org/officeDocument/2006/relationships/tags" Target="../tags/tag235.xml"/><Relationship Id="rId2" Type="http://schemas.openxmlformats.org/officeDocument/2006/relationships/tags" Target="../tags/tag217.xml"/><Relationship Id="rId19" Type="http://schemas.openxmlformats.org/officeDocument/2006/relationships/tags" Target="../tags/tag234.xml"/><Relationship Id="rId18" Type="http://schemas.openxmlformats.org/officeDocument/2006/relationships/tags" Target="../tags/tag233.xml"/><Relationship Id="rId17" Type="http://schemas.openxmlformats.org/officeDocument/2006/relationships/tags" Target="../tags/tag232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7" Type="http://schemas.openxmlformats.org/officeDocument/2006/relationships/tags" Target="../tags/tag264.xml"/><Relationship Id="rId16" Type="http://schemas.openxmlformats.org/officeDocument/2006/relationships/tags" Target="../tags/tag263.xml"/><Relationship Id="rId15" Type="http://schemas.openxmlformats.org/officeDocument/2006/relationships/tags" Target="../tags/tag262.xml"/><Relationship Id="rId14" Type="http://schemas.openxmlformats.org/officeDocument/2006/relationships/tags" Target="../tags/tag261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1" Type="http://schemas.openxmlformats.org/officeDocument/2006/relationships/tags" Target="../tags/tag289.xml"/><Relationship Id="rId20" Type="http://schemas.openxmlformats.org/officeDocument/2006/relationships/tags" Target="../tags/tag288.xml"/><Relationship Id="rId2" Type="http://schemas.openxmlformats.org/officeDocument/2006/relationships/tags" Target="../tags/tag270.xml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0988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2082800 h 2082800"/>
              <a:gd name="connisteX5" fmla="*/ 0 w 5334000"/>
              <a:gd name="connsiteY5" fmla="*/ 2082800 h 2082800"/>
              <a:gd name="connisteX6" fmla="*/ 0 w 53340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3606800"/>
            <a:ext cx="5334000" cy="2641600"/>
          </a:xfrm>
          <a:custGeom>
            <a:avLst/>
            <a:gdLst>
              <a:gd name="connisteX0" fmla="*/ 0 w 5334000"/>
              <a:gd name="connsiteY0" fmla="*/ 0 h 2641600"/>
              <a:gd name="connisteX1" fmla="*/ 5334000 w 5334000"/>
              <a:gd name="connsiteY1" fmla="*/ 0 h 2641600"/>
              <a:gd name="connisteX2" fmla="*/ 5334000 w 5334000"/>
              <a:gd name="connsiteY2" fmla="*/ 2438400 h 2641600"/>
              <a:gd name="connisteX3" fmla="*/ 5130800 w 5334000"/>
              <a:gd name="connsiteY3" fmla="*/ 2641600 h 2641600"/>
              <a:gd name="connisteX4" fmla="*/ 203200 w 5334000"/>
              <a:gd name="connsiteY4" fmla="*/ 2641600 h 2641600"/>
              <a:gd name="connisteX5" fmla="*/ 0 w 5334000"/>
              <a:gd name="connsiteY5" fmla="*/ 2438400 h 2641600"/>
              <a:gd name="connisteX6" fmla="*/ 0 w 53340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0"/>
                </a:moveTo>
                <a:lnTo>
                  <a:pt x="5334000" y="0"/>
                </a:lnTo>
                <a:lnTo>
                  <a:pt x="5334000" y="2438400"/>
                </a:lnTo>
                <a:cubicBezTo>
                  <a:pt x="5334000" y="2550624"/>
                  <a:pt x="5243024" y="2641600"/>
                  <a:pt x="51308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 userDrawn="1"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Freeform 6"/>
          <p:cNvSpPr/>
          <p:nvPr userDrawn="1">
            <p:custDataLst>
              <p:tags r:id="rId9"/>
            </p:custDataLst>
          </p:nvPr>
        </p:nvSpPr>
        <p:spPr bwMode="auto">
          <a:xfrm>
            <a:off x="9810959" y="0"/>
            <a:ext cx="2381041" cy="148780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750" h="2343">
                <a:moveTo>
                  <a:pt x="0" y="0"/>
                </a:moveTo>
                <a:lnTo>
                  <a:pt x="3750" y="0"/>
                </a:lnTo>
                <a:lnTo>
                  <a:pt x="3750" y="2343"/>
                </a:lnTo>
                <a:lnTo>
                  <a:pt x="3744" y="2343"/>
                </a:lnTo>
                <a:cubicBezTo>
                  <a:pt x="3308" y="2343"/>
                  <a:pt x="2635" y="2343"/>
                  <a:pt x="1597" y="2343"/>
                </a:cubicBezTo>
                <a:cubicBezTo>
                  <a:pt x="1205" y="2323"/>
                  <a:pt x="778" y="2290"/>
                  <a:pt x="503" y="2053"/>
                </a:cubicBezTo>
                <a:cubicBezTo>
                  <a:pt x="281" y="1862"/>
                  <a:pt x="210" y="1579"/>
                  <a:pt x="162" y="1312"/>
                </a:cubicBezTo>
                <a:cubicBezTo>
                  <a:pt x="83" y="890"/>
                  <a:pt x="30" y="465"/>
                  <a:pt x="2" y="3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p>
            <a:endParaRPr lang="zh-CN" altLang="en-US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168356" y="310019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68670" y="2016125"/>
            <a:ext cx="6209030" cy="4841875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68045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868045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390" hasCustomPrompt="1"/>
            <p:custDataLst>
              <p:tags r:id="rId10"/>
            </p:custDataLst>
          </p:nvPr>
        </p:nvSpPr>
        <p:spPr>
          <a:xfrm>
            <a:off x="868045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88519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422910" y="1198245"/>
            <a:ext cx="4067810" cy="3531870"/>
          </a:xfrm>
          <a:prstGeom prst="rect">
            <a:avLst/>
          </a:prstGeom>
        </p:spPr>
      </p:pic>
      <p:sp>
        <p:nvSpPr>
          <p:cNvPr id="12" name="日期占位符 11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Freeform 6"/>
          <p:cNvSpPr/>
          <p:nvPr userDrawn="1">
            <p:custDataLst>
              <p:tags r:id="rId8"/>
            </p:custDataLst>
          </p:nvPr>
        </p:nvSpPr>
        <p:spPr bwMode="auto">
          <a:xfrm>
            <a:off x="10458450" y="0"/>
            <a:ext cx="1733550" cy="1083310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750" h="2343">
                <a:moveTo>
                  <a:pt x="0" y="0"/>
                </a:moveTo>
                <a:lnTo>
                  <a:pt x="3750" y="0"/>
                </a:lnTo>
                <a:lnTo>
                  <a:pt x="3750" y="2343"/>
                </a:lnTo>
                <a:lnTo>
                  <a:pt x="3744" y="2343"/>
                </a:lnTo>
                <a:cubicBezTo>
                  <a:pt x="3308" y="2343"/>
                  <a:pt x="2635" y="2343"/>
                  <a:pt x="1597" y="2343"/>
                </a:cubicBezTo>
                <a:cubicBezTo>
                  <a:pt x="1205" y="2323"/>
                  <a:pt x="778" y="2290"/>
                  <a:pt x="503" y="2053"/>
                </a:cubicBezTo>
                <a:cubicBezTo>
                  <a:pt x="281" y="1862"/>
                  <a:pt x="210" y="1579"/>
                  <a:pt x="162" y="1312"/>
                </a:cubicBezTo>
                <a:cubicBezTo>
                  <a:pt x="83" y="890"/>
                  <a:pt x="30" y="465"/>
                  <a:pt x="2" y="3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 idx="16388" hasCustomPrompt="1"/>
            <p:custDataLst>
              <p:tags r:id="rId9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6389" hasCustomPrompt="1"/>
            <p:custDataLst>
              <p:tags r:id="rId10"/>
            </p:custDataLst>
          </p:nvPr>
        </p:nvSpPr>
        <p:spPr>
          <a:xfrm>
            <a:off x="9648825" y="1905000"/>
            <a:ext cx="1527175" cy="1524000"/>
          </a:xfrm>
          <a:prstGeom prst="roundRect">
            <a:avLst>
              <a:gd name="adj" fmla="val 0"/>
            </a:avLst>
          </a:prstGeom>
          <a:noFill/>
        </p:spPr>
        <p:txBody>
          <a:bodyPr vert="horz" wrap="square" lIns="0" tIns="0" rIns="0" bIns="0" anchor="ctr" anchorCtr="0">
            <a:normAutofit/>
          </a:bodyPr>
          <a:lstStyle>
            <a:lvl1pPr marL="0" indent="0" algn="r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u="none" strike="noStrike" kern="1200" cap="none" spc="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3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751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422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422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466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137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137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751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422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422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466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137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137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3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8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343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8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6343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/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" name="文本占位符 2"/>
          <p:cNvSpPr/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" name="文本占位符 3"/>
          <p:cNvSpPr/>
          <p:nvPr>
            <p:ph type="body" idx="16388" hasCustomPrompt="1"/>
            <p:custDataLst>
              <p:tags r:id="rId5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/>
          <p:nvPr>
            <p:ph type="body" idx="16389" hasCustomPrompt="1"/>
            <p:custDataLst>
              <p:tags r:id="rId6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31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31496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1971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7559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7884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2484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093200" y="21971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093200" y="27559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31496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3454400" y="4711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3454400" y="52705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87884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2484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093200" y="4711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093200" y="52705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8" Type="http://schemas.openxmlformats.org/officeDocument/2006/relationships/theme" Target="../theme/theme2.xml"/><Relationship Id="rId37" Type="http://schemas.openxmlformats.org/officeDocument/2006/relationships/tags" Target="../tags/tag298.xml"/><Relationship Id="rId36" Type="http://schemas.openxmlformats.org/officeDocument/2006/relationships/tags" Target="../tags/tag297.xml"/><Relationship Id="rId35" Type="http://schemas.openxmlformats.org/officeDocument/2006/relationships/tags" Target="../tags/tag296.xml"/><Relationship Id="rId34" Type="http://schemas.openxmlformats.org/officeDocument/2006/relationships/tags" Target="../tags/tag295.xml"/><Relationship Id="rId33" Type="http://schemas.openxmlformats.org/officeDocument/2006/relationships/tags" Target="../tags/tag294.xml"/><Relationship Id="rId32" Type="http://schemas.openxmlformats.org/officeDocument/2006/relationships/tags" Target="../tags/tag293.xml"/><Relationship Id="rId31" Type="http://schemas.openxmlformats.org/officeDocument/2006/relationships/tags" Target="../tags/tag292.xml"/><Relationship Id="rId30" Type="http://schemas.openxmlformats.org/officeDocument/2006/relationships/tags" Target="../tags/tag291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90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9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0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1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3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任意多边形: 形状 7"/>
          <p:cNvSpPr/>
          <p:nvPr userDrawn="1">
            <p:custDataLst>
              <p:tags r:id="rId34"/>
            </p:custDataLst>
          </p:nvPr>
        </p:nvSpPr>
        <p:spPr>
          <a:xfrm>
            <a:off x="0" y="5614670"/>
            <a:ext cx="453390" cy="947420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54" h="2132">
                <a:moveTo>
                  <a:pt x="201" y="0"/>
                </a:moveTo>
                <a:cubicBezTo>
                  <a:pt x="259" y="-1"/>
                  <a:pt x="316" y="5"/>
                  <a:pt x="370" y="22"/>
                </a:cubicBezTo>
                <a:cubicBezTo>
                  <a:pt x="547" y="80"/>
                  <a:pt x="641" y="253"/>
                  <a:pt x="708" y="417"/>
                </a:cubicBezTo>
                <a:cubicBezTo>
                  <a:pt x="813" y="675"/>
                  <a:pt x="891" y="945"/>
                  <a:pt x="940" y="1220"/>
                </a:cubicBezTo>
                <a:cubicBezTo>
                  <a:pt x="957" y="1313"/>
                  <a:pt x="966" y="1408"/>
                  <a:pt x="921" y="1531"/>
                </a:cubicBezTo>
                <a:cubicBezTo>
                  <a:pt x="876" y="1653"/>
                  <a:pt x="823" y="1708"/>
                  <a:pt x="675" y="1823"/>
                </a:cubicBezTo>
                <a:cubicBezTo>
                  <a:pt x="528" y="1938"/>
                  <a:pt x="152" y="2098"/>
                  <a:pt x="15" y="2128"/>
                </a:cubicBezTo>
                <a:cubicBezTo>
                  <a:pt x="11" y="2129"/>
                  <a:pt x="6" y="2130"/>
                  <a:pt x="2" y="2131"/>
                </a:cubicBezTo>
                <a:lnTo>
                  <a:pt x="0" y="2132"/>
                </a:lnTo>
                <a:lnTo>
                  <a:pt x="0" y="18"/>
                </a:lnTo>
                <a:lnTo>
                  <a:pt x="26" y="15"/>
                </a:lnTo>
                <a:cubicBezTo>
                  <a:pt x="84" y="8"/>
                  <a:pt x="143" y="1"/>
                  <a:pt x="201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Freeform 6"/>
          <p:cNvSpPr/>
          <p:nvPr userDrawn="1">
            <p:custDataLst>
              <p:tags r:id="rId35"/>
            </p:custDataLst>
          </p:nvPr>
        </p:nvSpPr>
        <p:spPr bwMode="auto">
          <a:xfrm>
            <a:off x="10458450" y="0"/>
            <a:ext cx="1733550" cy="1083310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750" h="2343">
                <a:moveTo>
                  <a:pt x="0" y="0"/>
                </a:moveTo>
                <a:lnTo>
                  <a:pt x="3750" y="0"/>
                </a:lnTo>
                <a:lnTo>
                  <a:pt x="3750" y="2343"/>
                </a:lnTo>
                <a:lnTo>
                  <a:pt x="3744" y="2343"/>
                </a:lnTo>
                <a:cubicBezTo>
                  <a:pt x="3308" y="2343"/>
                  <a:pt x="2635" y="2343"/>
                  <a:pt x="1597" y="2343"/>
                </a:cubicBezTo>
                <a:cubicBezTo>
                  <a:pt x="1205" y="2323"/>
                  <a:pt x="778" y="2290"/>
                  <a:pt x="503" y="2053"/>
                </a:cubicBezTo>
                <a:cubicBezTo>
                  <a:pt x="281" y="1862"/>
                  <a:pt x="210" y="1579"/>
                  <a:pt x="162" y="1312"/>
                </a:cubicBezTo>
                <a:cubicBezTo>
                  <a:pt x="83" y="890"/>
                  <a:pt x="30" y="465"/>
                  <a:pt x="2" y="3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2" Type="http://schemas.openxmlformats.org/officeDocument/2006/relationships/slideLayout" Target="../slideLayouts/slideLayout21.xml"/><Relationship Id="rId21" Type="http://schemas.openxmlformats.org/officeDocument/2006/relationships/tags" Target="../tags/tag323.xml"/><Relationship Id="rId20" Type="http://schemas.openxmlformats.org/officeDocument/2006/relationships/tags" Target="../tags/tag322.xml"/><Relationship Id="rId2" Type="http://schemas.openxmlformats.org/officeDocument/2006/relationships/tags" Target="../tags/tag304.xml"/><Relationship Id="rId19" Type="http://schemas.openxmlformats.org/officeDocument/2006/relationships/tags" Target="../tags/tag321.xml"/><Relationship Id="rId18" Type="http://schemas.openxmlformats.org/officeDocument/2006/relationships/tags" Target="../tags/tag320.xml"/><Relationship Id="rId17" Type="http://schemas.openxmlformats.org/officeDocument/2006/relationships/tags" Target="../tags/tag319.xml"/><Relationship Id="rId16" Type="http://schemas.openxmlformats.org/officeDocument/2006/relationships/tags" Target="../tags/tag318.xml"/><Relationship Id="rId15" Type="http://schemas.openxmlformats.org/officeDocument/2006/relationships/tags" Target="../tags/tag317.xml"/><Relationship Id="rId14" Type="http://schemas.openxmlformats.org/officeDocument/2006/relationships/tags" Target="../tags/tag316.xml"/><Relationship Id="rId13" Type="http://schemas.openxmlformats.org/officeDocument/2006/relationships/tags" Target="../tags/tag315.xml"/><Relationship Id="rId12" Type="http://schemas.openxmlformats.org/officeDocument/2006/relationships/tags" Target="../tags/tag31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tags" Target="../tags/tag30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5" Type="http://schemas.openxmlformats.org/officeDocument/2006/relationships/slideLayout" Target="../slideLayouts/slideLayout20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tags" Target="../tags/tag34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35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63.xml"/><Relationship Id="rId2" Type="http://schemas.openxmlformats.org/officeDocument/2006/relationships/image" Target="../media/image5.png"/><Relationship Id="rId1" Type="http://schemas.openxmlformats.org/officeDocument/2006/relationships/tags" Target="../tags/tag36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1" Type="http://schemas.openxmlformats.org/officeDocument/2006/relationships/slideLayout" Target="../slideLayouts/slideLayout16.xml"/><Relationship Id="rId10" Type="http://schemas.openxmlformats.org/officeDocument/2006/relationships/tags" Target="../tags/tag371.xml"/><Relationship Id="rId1" Type="http://schemas.openxmlformats.org/officeDocument/2006/relationships/tags" Target="../tags/tag36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image" Target="../media/image8.png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37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" Type="http://schemas.openxmlformats.org/officeDocument/2006/relationships/tags" Target="../tags/tag38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84.xml"/><Relationship Id="rId1" Type="http://schemas.openxmlformats.org/officeDocument/2006/relationships/tags" Target="../tags/tag3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88.xml"/><Relationship Id="rId2" Type="http://schemas.openxmlformats.org/officeDocument/2006/relationships/image" Target="../media/image9.png"/><Relationship Id="rId1" Type="http://schemas.openxmlformats.org/officeDocument/2006/relationships/tags" Target="../tags/tag38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90.xml"/><Relationship Id="rId2" Type="http://schemas.openxmlformats.org/officeDocument/2006/relationships/image" Target="../media/image10.png"/><Relationship Id="rId1" Type="http://schemas.openxmlformats.org/officeDocument/2006/relationships/tags" Target="../tags/tag38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5.xml"/><Relationship Id="rId3" Type="http://schemas.openxmlformats.org/officeDocument/2006/relationships/tags" Target="../tags/tag392.xml"/><Relationship Id="rId2" Type="http://schemas.openxmlformats.org/officeDocument/2006/relationships/image" Target="../media/image11.png"/><Relationship Id="rId1" Type="http://schemas.openxmlformats.org/officeDocument/2006/relationships/tags" Target="../tags/tag39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6.xml"/><Relationship Id="rId4" Type="http://schemas.openxmlformats.org/officeDocument/2006/relationships/tags" Target="../tags/tag39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39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6.xml"/><Relationship Id="rId4" Type="http://schemas.openxmlformats.org/officeDocument/2006/relationships/tags" Target="../tags/tag396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39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" Type="http://schemas.openxmlformats.org/officeDocument/2006/relationships/tags" Target="../tags/tag39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1.xml"/><Relationship Id="rId2" Type="http://schemas.openxmlformats.org/officeDocument/2006/relationships/image" Target="../media/image16.png"/><Relationship Id="rId1" Type="http://schemas.openxmlformats.org/officeDocument/2006/relationships/tags" Target="../tags/tag40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3.xml"/><Relationship Id="rId2" Type="http://schemas.openxmlformats.org/officeDocument/2006/relationships/image" Target="../media/image17.png"/><Relationship Id="rId1" Type="http://schemas.openxmlformats.org/officeDocument/2006/relationships/tags" Target="../tags/tag40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405.xml"/><Relationship Id="rId2" Type="http://schemas.openxmlformats.org/officeDocument/2006/relationships/image" Target="../media/image18.png"/><Relationship Id="rId1" Type="http://schemas.openxmlformats.org/officeDocument/2006/relationships/tags" Target="../tags/tag40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407.xml"/><Relationship Id="rId2" Type="http://schemas.openxmlformats.org/officeDocument/2006/relationships/image" Target="../media/image19.png"/><Relationship Id="rId1" Type="http://schemas.openxmlformats.org/officeDocument/2006/relationships/tags" Target="../tags/tag40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tags" Target="../tags/tag408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tags" Target="../tags/tag416.xml"/><Relationship Id="rId5" Type="http://schemas.openxmlformats.org/officeDocument/2006/relationships/tags" Target="../tags/tag41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1" Type="http://schemas.openxmlformats.org/officeDocument/2006/relationships/slideLayout" Target="../slideLayouts/slideLayout37.xml"/><Relationship Id="rId10" Type="http://schemas.openxmlformats.org/officeDocument/2006/relationships/tags" Target="../tags/tag420.xml"/><Relationship Id="rId1" Type="http://schemas.openxmlformats.org/officeDocument/2006/relationships/tags" Target="../tags/tag4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422.xml"/><Relationship Id="rId1" Type="http://schemas.openxmlformats.org/officeDocument/2006/relationships/tags" Target="../tags/tag4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>
          <a:xfrm>
            <a:off x="1522730" y="1613535"/>
            <a:ext cx="9146540" cy="2540000"/>
          </a:xfrm>
        </p:spPr>
        <p:txBody>
          <a:bodyPr>
            <a:normAutofit/>
          </a:bodyPr>
          <a:p>
            <a:r>
              <a:rPr lang="zh-CN" altLang="en-US"/>
              <a:t>基于 YOLO11 的监控视频小目标跟踪系统设计与实现</a:t>
            </a:r>
            <a:endParaRPr lang="zh-CN" altLang="en-US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16390"/>
            <p:custDataLst>
              <p:tags r:id="rId2"/>
            </p:custDataLst>
          </p:nvPr>
        </p:nvSpPr>
        <p:spPr>
          <a:xfrm>
            <a:off x="4298315" y="3645535"/>
            <a:ext cx="3594735" cy="508000"/>
          </a:xfrm>
        </p:spPr>
        <p:txBody>
          <a:bodyPr>
            <a:normAutofit fontScale="70000"/>
          </a:bodyPr>
          <a:p>
            <a:r>
              <a:rPr lang="zh-CN" altLang="en-US"/>
              <a:t>汇报人: 杨馥</a:t>
            </a:r>
            <a:r>
              <a:rPr lang="zh-CN" altLang="en-US"/>
              <a:t>菊</a:t>
            </a:r>
            <a:endParaRPr lang="zh-CN" altLang="en-US"/>
          </a:p>
        </p:txBody>
      </p:sp>
      <p:sp>
        <p:nvSpPr>
          <p:cNvPr id="28" name="Text Placeholder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33595" y="4328160"/>
            <a:ext cx="292544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US"/>
              <a:t>2025/12/26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项目背景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数据集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核心改进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实验过程及</a:t>
            </a:r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GUI系统功能</a:t>
            </a:r>
            <a:endParaRPr lang="zh-CN" altLang="en-US"/>
          </a:p>
        </p:txBody>
      </p:sp>
      <p:sp>
        <p:nvSpPr>
          <p:cNvPr id="19" name="文本占位符 1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969250" y="4800600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20" name="装饰 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7503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17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978900" y="4648200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总结</a:t>
            </a:r>
            <a:r>
              <a:rPr lang="zh-CN" altLang="en-US"/>
              <a:t>展望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11345" y="3642360"/>
            <a:ext cx="3368675" cy="967740"/>
          </a:xfrm>
        </p:spPr>
        <p:txBody>
          <a:bodyPr>
            <a:normAutofit/>
          </a:bodyPr>
          <a:p>
            <a:pPr algn="ctr"/>
            <a:r>
              <a:rPr lang="zh-CN" altLang="en-US" b="0"/>
              <a:t>项目背景</a:t>
            </a:r>
            <a:endParaRPr lang="zh-CN" altLang="en-US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01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研究背景与意义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custDataLst>
              <p:tags r:id="rId2"/>
            </p:custDataLst>
          </p:nvPr>
        </p:nvSpPr>
        <p:spPr>
          <a:xfrm flipV="1">
            <a:off x="609600" y="1689735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00" y="1978660"/>
            <a:ext cx="4393565" cy="406400"/>
          </a:xfrm>
        </p:spPr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小目标跟踪概述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装饰  8"/>
          <p:cNvSpPr>
            <a:spLocks noGrp="1"/>
          </p:cNvSpPr>
          <p:nvPr>
            <p:custDataLst>
              <p:tags r:id="rId4"/>
            </p:custDataLst>
          </p:nvPr>
        </p:nvSpPr>
        <p:spPr>
          <a:xfrm flipH="1" flipV="1">
            <a:off x="6248400" y="1689735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914400" y="2537460"/>
            <a:ext cx="4572000" cy="914400"/>
          </a:xfrm>
        </p:spPr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小目标跟踪是计算机视觉核心任务，针</a:t>
            </a:r>
            <a:r>
              <a:rPr lang="zh-CN" altLang="en-US" b="1">
                <a:solidFill>
                  <a:schemeClr val="tx1"/>
                </a:solidFill>
              </a:rPr>
              <a:t>对像素低、特征微弱易受干扰目标</a:t>
            </a:r>
            <a:r>
              <a:rPr lang="zh-CN" altLang="en-US">
                <a:solidFill>
                  <a:schemeClr val="tx1"/>
                </a:solidFill>
              </a:rPr>
              <a:t>持续定位监测，应用场景从传统安防拓展至</a:t>
            </a:r>
            <a:r>
              <a:rPr lang="zh-CN" altLang="en-US" b="1">
                <a:solidFill>
                  <a:schemeClr val="tx1"/>
                </a:solidFill>
              </a:rPr>
              <a:t>多元智能化领域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6553200" y="1978660"/>
            <a:ext cx="4572000" cy="406400"/>
          </a:xfrm>
        </p:spPr>
        <p:txBody>
          <a:bodyPr>
            <a:normAutofit/>
          </a:bodyPr>
          <a:p>
            <a:r>
              <a:rPr lang="zh-CN" altLang="en-US"/>
              <a:t>核心技术挑战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53200" y="2537460"/>
            <a:ext cx="4572000" cy="914400"/>
          </a:xfrm>
        </p:spPr>
        <p:txBody>
          <a:bodyPr>
            <a:normAutofit lnSpcReduction="10000"/>
          </a:bodyPr>
          <a:p>
            <a:r>
              <a:rPr lang="zh-CN" altLang="en-US"/>
              <a:t>小目标</a:t>
            </a:r>
            <a:r>
              <a:rPr lang="zh-CN" altLang="en-US" b="1"/>
              <a:t>特征稀缺提取难</a:t>
            </a:r>
            <a:r>
              <a:rPr lang="zh-CN" altLang="en-US"/>
              <a:t>，</a:t>
            </a:r>
            <a:r>
              <a:rPr lang="zh-CN" altLang="en-US" b="1"/>
              <a:t>易与背景融合</a:t>
            </a:r>
            <a:r>
              <a:rPr lang="zh-CN" altLang="en-US"/>
              <a:t>受环境干扰，尺度</a:t>
            </a:r>
            <a:r>
              <a:rPr lang="zh-CN" altLang="en-US" b="1"/>
              <a:t>波动</a:t>
            </a:r>
            <a:r>
              <a:rPr lang="zh-CN" altLang="en-US"/>
              <a:t>致跟踪框偏移，</a:t>
            </a:r>
            <a:r>
              <a:rPr lang="zh-CN" altLang="en-US" b="1"/>
              <a:t>多目标密集遮挡跟踪混淆</a:t>
            </a:r>
            <a:r>
              <a:rPr lang="zh-CN" altLang="en-US"/>
              <a:t>，实时性要求高，精度与效率平衡难。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4470400"/>
            <a:ext cx="4724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研究现状</a:t>
            </a:r>
            <a:endParaRPr lang="zh-CN" altLang="en-US"/>
          </a:p>
        </p:txBody>
      </p:sp>
      <p:sp>
        <p:nvSpPr>
          <p:cNvPr id="12" name="文本占位符 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4400" y="5029200"/>
            <a:ext cx="4724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小目标检测通过数据增强、特征融合和损失函数优化提升性能；多目标跟踪主流框架分为</a:t>
            </a:r>
            <a:r>
              <a:rPr lang="zh-CN" altLang="en-US" b="1"/>
              <a:t>基于检测的跟踪</a:t>
            </a:r>
            <a:r>
              <a:rPr lang="zh-CN" altLang="en-US"/>
              <a:t>和</a:t>
            </a:r>
            <a:r>
              <a:rPr lang="zh-CN" altLang="en-US" b="1"/>
              <a:t>联合检测与跟踪两类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3" name="装饰 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</a:rPr>
              <a:t>研究目标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占位符 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chemeClr val="tx1"/>
                </a:solidFill>
              </a:rPr>
              <a:t>优化网络结构与跟踪策略</a:t>
            </a:r>
            <a:r>
              <a:rPr lang="zh-CN" altLang="en-US">
                <a:solidFill>
                  <a:schemeClr val="tx1"/>
                </a:solidFill>
              </a:rPr>
              <a:t>，构建一体化解决方案，提升小目标跟踪精度、稳定性与部署适配性，形成工程化应用系统。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11345" y="3642360"/>
            <a:ext cx="3368675" cy="967740"/>
          </a:xfrm>
        </p:spPr>
        <p:txBody>
          <a:bodyPr>
            <a:normAutofit/>
          </a:bodyPr>
          <a:p>
            <a:pPr algn="ctr"/>
            <a:r>
              <a:rPr lang="zh-CN" altLang="en-US" b="0"/>
              <a:t>数据集</a:t>
            </a:r>
            <a:r>
              <a:rPr lang="zh-CN" altLang="en-US" b="0"/>
              <a:t>介绍</a:t>
            </a:r>
            <a:endParaRPr lang="zh-CN" altLang="en-US" b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02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数据集选择与处理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498600"/>
            <a:ext cx="5334000" cy="406400"/>
          </a:xfrm>
        </p:spPr>
        <p:txBody>
          <a:bodyPr>
            <a:normAutofit/>
          </a:bodyPr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00" y="2057400"/>
            <a:ext cx="10563860" cy="127000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1800"/>
              <a:t>CrowdHuman数据集：含15000张训练图像，34万实例，</a:t>
            </a:r>
            <a:r>
              <a:rPr lang="zh-CN" altLang="en-US" sz="1800" b="1"/>
              <a:t>多样化遮挡场景</a:t>
            </a:r>
            <a:r>
              <a:rPr lang="zh-CN" altLang="en-US" sz="1800"/>
              <a:t>，用于</a:t>
            </a:r>
            <a:r>
              <a:rPr lang="zh-CN" altLang="en-US" sz="1800" b="1"/>
              <a:t>小目标检测</a:t>
            </a:r>
            <a:r>
              <a:rPr lang="zh-CN" altLang="en-US" sz="1800"/>
              <a:t>预训练。
</a:t>
            </a:r>
            <a:endParaRPr lang="zh-CN" altLang="en-US" sz="1800"/>
          </a:p>
          <a:p>
            <a:pPr>
              <a:lnSpc>
                <a:spcPct val="150000"/>
              </a:lnSpc>
            </a:pPr>
            <a:r>
              <a:rPr lang="zh-CN" altLang="en-US" sz="1800"/>
              <a:t>MOT17数据集：含14个视频序列，三个检测器，涵盖城市街道等真实场景，用于</a:t>
            </a:r>
            <a:r>
              <a:rPr lang="zh-CN" altLang="en-US" sz="1800" b="1"/>
              <a:t>多目标跟踪算法评估</a:t>
            </a:r>
            <a:r>
              <a:rPr lang="zh-CN" altLang="en-US" sz="1800"/>
              <a:t>。</a:t>
            </a:r>
            <a:endParaRPr lang="zh-CN" altLang="en-US" sz="18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609600" y="3727450"/>
            <a:ext cx="7101840" cy="406400"/>
          </a:xfrm>
        </p:spPr>
        <p:txBody>
          <a:bodyPr>
            <a:normAutofit/>
          </a:bodyPr>
          <a:p>
            <a:r>
              <a:rPr lang="zh-CN" altLang="en-US"/>
              <a:t>数据预处理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09600" y="4286250"/>
            <a:ext cx="10563860" cy="50546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800"/>
              <a:t>坐标归一化至[0,1]范围，过滤异常标注，按</a:t>
            </a:r>
            <a:r>
              <a:rPr lang="en-US" altLang="zh-CN" sz="1800"/>
              <a:t>8:1</a:t>
            </a:r>
            <a:r>
              <a:rPr lang="zh-CN" altLang="en-US" sz="1800"/>
              <a:t>:1划分训练、验证和</a:t>
            </a:r>
            <a:r>
              <a:rPr lang="zh-CN" altLang="en-US" sz="1800"/>
              <a:t>测子集，增强模型泛化能力。</a:t>
            </a:r>
            <a:endParaRPr lang="zh-CN" altLang="en-US" sz="1800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11345" y="3642360"/>
            <a:ext cx="3368675" cy="967740"/>
          </a:xfrm>
        </p:spPr>
        <p:txBody>
          <a:bodyPr>
            <a:normAutofit/>
          </a:bodyPr>
          <a:p>
            <a:pPr algn="ctr"/>
            <a:r>
              <a:rPr lang="zh-CN" altLang="en-US" b="0"/>
              <a:t>核心</a:t>
            </a:r>
            <a:r>
              <a:rPr lang="zh-CN" altLang="en-US" b="0"/>
              <a:t>改进</a:t>
            </a:r>
            <a:endParaRPr lang="zh-CN" altLang="en-US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03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YOLO11s模型架构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392555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骨干网络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00" y="1900555"/>
            <a:ext cx="9825355" cy="49720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采用</a:t>
            </a:r>
            <a:r>
              <a:rPr lang="zh-CN" altLang="en-US" b="1"/>
              <a:t>轻量化C2f-C3k2</a:t>
            </a:r>
            <a:r>
              <a:rPr lang="zh-CN" altLang="en-US"/>
              <a:t>混合架构，实现高效特征提取与计算量平衡，适配</a:t>
            </a:r>
            <a:r>
              <a:rPr lang="zh-CN" altLang="en-US" b="1"/>
              <a:t>小目标检测需求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609600" y="2417445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颈部网络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09600" y="2925445"/>
            <a:ext cx="10973435" cy="47815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采用</a:t>
            </a:r>
            <a:r>
              <a:rPr lang="zh-CN" altLang="en-US" b="1"/>
              <a:t>轻量化PAN-FPN双向融合</a:t>
            </a:r>
            <a:r>
              <a:rPr lang="zh-CN" altLang="en-US"/>
              <a:t>结构，优化权重分配强化P2层占比，提升多尺度目标特征表达能力。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609600" y="3588385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检测头设计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609600" y="4096385"/>
            <a:ext cx="10894695" cy="46545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基于</a:t>
            </a:r>
            <a:r>
              <a:rPr lang="zh-CN" altLang="en-US" b="1"/>
              <a:t>Anchor-Free设计</a:t>
            </a:r>
            <a:r>
              <a:rPr lang="zh-CN" altLang="en-US"/>
              <a:t>，预测目标中心点坐标等，用CIoU与分布焦点损失，提升推理速度</a:t>
            </a:r>
            <a:r>
              <a:rPr lang="zh-CN" altLang="en-US" b="1"/>
              <a:t>满足实时跟踪需求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9270" y="4759325"/>
            <a:ext cx="406400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 dirty="0" err="1" smtClean="0">
                <a:solidFill>
                  <a:schemeClr val="accent1"/>
                </a:solidFill>
              </a:rPr>
              <a:t>选择</a:t>
            </a:r>
            <a:r>
              <a:rPr lang="en-US" altLang="zh-CN" sz="2400" b="1" dirty="0" err="1" smtClean="0">
                <a:solidFill>
                  <a:schemeClr val="accent1"/>
                </a:solidFill>
              </a:rPr>
              <a:t>YOLO11</a:t>
            </a:r>
            <a:r>
              <a:rPr lang="zh-CN" altLang="en-US" sz="2400" b="1" dirty="0" err="1" smtClean="0">
                <a:solidFill>
                  <a:schemeClr val="accent1"/>
                </a:solidFill>
              </a:rPr>
              <a:t>的优势</a:t>
            </a:r>
            <a:endParaRPr lang="zh-CN" altLang="en-US" sz="2400" b="1" dirty="0" err="1" smtClean="0">
              <a:solidFill>
                <a:schemeClr val="accent1"/>
              </a:solidFill>
            </a:endParaRPr>
          </a:p>
          <a:p>
            <a:pPr algn="l"/>
            <a:endParaRPr lang="zh-CN" altLang="en-US" sz="2400" b="1" dirty="0" err="1" smtClean="0">
              <a:solidFill>
                <a:schemeClr val="accent1"/>
              </a:solidFill>
            </a:endParaRPr>
          </a:p>
        </p:txBody>
      </p:sp>
      <p:sp>
        <p:nvSpPr>
          <p:cNvPr id="12" name="文本占位符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5422900"/>
            <a:ext cx="10894695" cy="9721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700"/>
              <a:t>YOLO11 </a:t>
            </a:r>
            <a:r>
              <a:rPr lang="zh-CN" altLang="en-US" sz="1700"/>
              <a:t>在保持</a:t>
            </a:r>
            <a:r>
              <a:rPr lang="en-US" altLang="zh-CN" sz="1700"/>
              <a:t> YOLO </a:t>
            </a:r>
            <a:r>
              <a:rPr lang="zh-CN" altLang="en-US" sz="1700"/>
              <a:t>系列</a:t>
            </a:r>
            <a:r>
              <a:rPr lang="zh-CN" altLang="en-US" sz="1700" b="1"/>
              <a:t>轻量化、高速度</a:t>
            </a:r>
            <a:r>
              <a:rPr lang="zh-CN" altLang="en-US" sz="1700"/>
              <a:t>优势的基础上，在检测精度（尤其</a:t>
            </a:r>
            <a:r>
              <a:rPr lang="zh-CN" altLang="en-US" sz="1700" b="1"/>
              <a:t>小目标</a:t>
            </a:r>
            <a:r>
              <a:rPr lang="en-US" altLang="zh-CN" sz="1700" b="1"/>
              <a:t> / </a:t>
            </a:r>
            <a:r>
              <a:rPr lang="zh-CN" altLang="en-US" sz="1700" b="1"/>
              <a:t>密集目标</a:t>
            </a:r>
            <a:r>
              <a:rPr lang="zh-CN" altLang="en-US" sz="1700"/>
              <a:t>）、模型架构合理性、工程实用性上均优于</a:t>
            </a:r>
            <a:r>
              <a:rPr lang="en-US" altLang="zh-CN" sz="1700"/>
              <a:t> YOLOv8 </a:t>
            </a:r>
            <a:r>
              <a:rPr lang="zh-CN" altLang="en-US" sz="1700"/>
              <a:t>及更早版本，是当前更优的基线选择</a:t>
            </a:r>
            <a:endParaRPr lang="zh-CN" altLang="en-US" sz="1700"/>
          </a:p>
        </p:txBody>
      </p: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模型改进</a:t>
            </a:r>
            <a:r>
              <a:rPr lang="zh-CN" altLang="en-US"/>
              <a:t>结构图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895" t="1742"/>
          <a:stretch>
            <a:fillRect/>
          </a:stretch>
        </p:blipFill>
        <p:spPr>
          <a:xfrm>
            <a:off x="488315" y="1273175"/>
            <a:ext cx="10814050" cy="53365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GAM注意力机制集成</a:t>
            </a:r>
            <a:endParaRPr lang="zh-CN" altLang="en-US"/>
          </a:p>
        </p:txBody>
      </p:sp>
      <p:sp>
        <p:nvSpPr>
          <p:cNvPr id="4" name="装饰  9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>
          <a:xfrm>
            <a:off x="609600" y="1884680"/>
            <a:ext cx="76200" cy="167703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762000" y="1838960"/>
            <a:ext cx="6172200" cy="406400"/>
          </a:xfrm>
        </p:spPr>
        <p:txBody>
          <a:bodyPr>
            <a:normAutofit/>
          </a:bodyPr>
          <a:p>
            <a:r>
              <a:rPr lang="zh-CN" altLang="en-US"/>
              <a:t>结构改进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62635" y="2346960"/>
            <a:ext cx="5673725" cy="1443990"/>
          </a:xfrm>
        </p:spPr>
        <p:txBody>
          <a:bodyPr>
            <a:normAutofit/>
          </a:bodyPr>
          <a:p>
            <a:r>
              <a:rPr lang="zh-CN" altLang="en-US" b="1">
                <a:sym typeface="+mn-ea"/>
              </a:rPr>
              <a:t>增强特征的通道相关性和空间位置相关性</a:t>
            </a:r>
            <a:r>
              <a:rPr lang="zh-CN" altLang="en-US">
                <a:sym typeface="+mn-ea"/>
              </a:rPr>
              <a:t>，让模型更关注有用的目标特征（尤其是小目标的微弱特征）。</a:t>
            </a:r>
            <a:endParaRPr lang="zh-CN" altLang="en-US"/>
          </a:p>
          <a:p>
            <a:r>
              <a:rPr lang="zh-CN" altLang="en-US"/>
              <a:t>新增小目标增强分支，</a:t>
            </a:r>
            <a:r>
              <a:rPr lang="zh-CN" altLang="en-US" b="1"/>
              <a:t>强化浅层特征提取</a:t>
            </a:r>
            <a:r>
              <a:rPr lang="zh-CN" altLang="en-US"/>
              <a:t>，缓解小目标特征匮乏问题。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609600" y="440436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762000" y="4411980"/>
            <a:ext cx="6172200" cy="406400"/>
          </a:xfrm>
        </p:spPr>
        <p:txBody>
          <a:bodyPr>
            <a:normAutofit/>
          </a:bodyPr>
          <a:p>
            <a:r>
              <a:rPr lang="zh-CN" altLang="en-US"/>
              <a:t>优势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62000" y="4889500"/>
            <a:ext cx="5573395" cy="1463040"/>
          </a:xfrm>
        </p:spPr>
        <p:txBody>
          <a:bodyPr>
            <a:normAutofit/>
          </a:bodyPr>
          <a:p>
            <a:r>
              <a:rPr lang="zh-CN" altLang="en-US"/>
              <a:t>融合通道与空间权重，保留全局特征完整性并强化小目标关键特征，轻量化设计不影响推理速度。</a:t>
            </a:r>
            <a:endParaRPr lang="zh-CN" altLang="en-US"/>
          </a:p>
        </p:txBody>
      </p:sp>
      <p:pic>
        <p:nvPicPr>
          <p:cNvPr id="14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1893" y="4457383"/>
            <a:ext cx="5723255" cy="177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4"/>
          <p:cNvPicPr>
            <a:picLocks noChangeAspect="1"/>
          </p:cNvPicPr>
          <p:nvPr/>
        </p:nvPicPr>
        <p:blipFill>
          <a:blip r:embed="rId9"/>
          <a:srcRect l="2385" t="58667"/>
          <a:stretch>
            <a:fillRect/>
          </a:stretch>
        </p:blipFill>
        <p:spPr>
          <a:xfrm>
            <a:off x="6320155" y="2834640"/>
            <a:ext cx="55880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3"/>
          <p:cNvPicPr>
            <a:picLocks noChangeAspect="1"/>
          </p:cNvPicPr>
          <p:nvPr/>
        </p:nvPicPr>
        <p:blipFill>
          <a:blip r:embed="rId9"/>
          <a:srcRect l="2119" t="4244" b="53978"/>
          <a:stretch>
            <a:fillRect/>
          </a:stretch>
        </p:blipFill>
        <p:spPr>
          <a:xfrm>
            <a:off x="6320155" y="1252220"/>
            <a:ext cx="5603240" cy="1193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自定义SIoU损失函数</a:t>
            </a:r>
            <a:endParaRPr lang="zh-CN" altLang="en-US"/>
          </a:p>
        </p:txBody>
      </p:sp>
      <p:sp>
        <p:nvSpPr>
          <p:cNvPr id="3" name="装饰  8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720090" y="4165600"/>
            <a:ext cx="5334000" cy="20828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1024890" y="4470400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设计思路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1024890" y="5029200"/>
            <a:ext cx="4724400" cy="914400"/>
          </a:xfrm>
        </p:spPr>
        <p:txBody>
          <a:bodyPr>
            <a:normAutofit/>
          </a:bodyPr>
          <a:p>
            <a:r>
              <a:rPr lang="zh-CN" altLang="en-US"/>
              <a:t>新增角度损失项优化边界框方向一致性，引入小目标权重因子ω动态调整回归权重。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720090" y="1612900"/>
            <a:ext cx="5334000" cy="20828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1024890" y="1917700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优势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1024890" y="2476500"/>
            <a:ext cx="4724400" cy="914400"/>
          </a:xfrm>
        </p:spPr>
        <p:txBody>
          <a:bodyPr>
            <a:normAutofit lnSpcReduction="10000"/>
          </a:bodyPr>
          <a:p>
            <a:r>
              <a:rPr lang="zh-CN" altLang="en-US"/>
              <a:t>计算</a:t>
            </a:r>
            <a:r>
              <a:rPr lang="zh-CN" altLang="en-US"/>
              <a:t>多维损失，引导</a:t>
            </a:r>
            <a:r>
              <a:rPr lang="zh-CN" altLang="en-US"/>
              <a:t>边框回归。解决</a:t>
            </a:r>
            <a:r>
              <a:rPr lang="zh-CN" altLang="en-US" b="1"/>
              <a:t>小目标定位不敏感问题</a:t>
            </a:r>
            <a:r>
              <a:rPr lang="zh-CN" altLang="en-US"/>
              <a:t>，强化误差反馈精准回归，加速收敛，避</a:t>
            </a:r>
            <a:r>
              <a:rPr lang="zh-CN" altLang="en-US" b="1"/>
              <a:t>免梯度消失或不稳定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rcRect l="1878" t="3669" r="1752" b="1481"/>
          <a:stretch>
            <a:fillRect/>
          </a:stretch>
        </p:blipFill>
        <p:spPr>
          <a:xfrm>
            <a:off x="6343015" y="1612900"/>
            <a:ext cx="5310505" cy="45142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3761105" y="3642360"/>
            <a:ext cx="4670425" cy="967740"/>
          </a:xfrm>
        </p:spPr>
        <p:txBody>
          <a:bodyPr>
            <a:normAutofit/>
          </a:bodyPr>
          <a:p>
            <a:pPr algn="ctr"/>
            <a:r>
              <a:rPr lang="zh-CN" altLang="en-US" b="0"/>
              <a:t>实验过程及</a:t>
            </a:r>
            <a:r>
              <a:rPr lang="zh-CN" altLang="en-US" b="0"/>
              <a:t>对比</a:t>
            </a:r>
            <a:endParaRPr lang="zh-CN" altLang="en-US" b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04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32130" y="558800"/>
            <a:ext cx="6324600" cy="609600"/>
          </a:xfrm>
        </p:spPr>
        <p:txBody>
          <a:bodyPr>
            <a:normAutofit/>
          </a:bodyPr>
          <a:p>
            <a:r>
              <a:rPr lang="zh-CN" altLang="en-US"/>
              <a:t>检测性能指标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32130" y="1590675"/>
            <a:ext cx="10765155" cy="4461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mAP@0.5</a:t>
            </a:r>
            <a:r>
              <a:rPr lang="zh-CN" altLang="en-US" dirty="0" err="1" smtClean="0">
                <a:solidFill>
                  <a:schemeClr val="tx1"/>
                </a:solidFill>
              </a:rPr>
              <a:t>：在</a:t>
            </a:r>
            <a:r>
              <a:rPr lang="en-US" altLang="zh-CN" dirty="0" err="1" smtClean="0">
                <a:solidFill>
                  <a:schemeClr val="tx1"/>
                </a:solidFill>
              </a:rPr>
              <a:t>IoU</a:t>
            </a:r>
            <a:r>
              <a:rPr lang="zh-CN" altLang="en-US" dirty="0" err="1" smtClean="0">
                <a:solidFill>
                  <a:schemeClr val="tx1"/>
                </a:solidFill>
              </a:rPr>
              <a:t>阈值为</a:t>
            </a:r>
            <a:r>
              <a:rPr lang="en-US" altLang="zh-CN" dirty="0" err="1" smtClean="0">
                <a:solidFill>
                  <a:schemeClr val="tx1"/>
                </a:solidFill>
              </a:rPr>
              <a:t>0.5</a:t>
            </a:r>
            <a:r>
              <a:rPr lang="zh-CN" altLang="en-US" dirty="0" err="1" smtClean="0">
                <a:solidFill>
                  <a:schemeClr val="tx1"/>
                </a:solidFill>
              </a:rPr>
              <a:t>时模型的平均检测精度，是目标检测中最常用的基础性能指标。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mAP@0.5:0.95</a:t>
            </a:r>
            <a:r>
              <a:rPr lang="zh-CN" altLang="en-US" dirty="0" err="1" smtClean="0">
                <a:solidFill>
                  <a:schemeClr val="tx1"/>
                </a:solidFill>
              </a:rPr>
              <a:t>：在多个</a:t>
            </a:r>
            <a:r>
              <a:rPr lang="en-US" altLang="zh-CN" dirty="0" err="1" smtClean="0">
                <a:solidFill>
                  <a:schemeClr val="tx1"/>
                </a:solidFill>
              </a:rPr>
              <a:t>IoU</a:t>
            </a:r>
            <a:r>
              <a:rPr lang="zh-CN" altLang="en-US" dirty="0" err="1" smtClean="0">
                <a:solidFill>
                  <a:schemeClr val="tx1"/>
                </a:solidFill>
              </a:rPr>
              <a:t>阈值下对模型检测精度的综合评估，更严格衡量定位质量，反映边界框回归的鲁棒性。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Precision（精确率）</a:t>
            </a:r>
            <a:r>
              <a:rPr lang="zh-CN" altLang="en-US" dirty="0" err="1" smtClean="0">
                <a:solidFill>
                  <a:schemeClr val="tx1"/>
                </a:solidFill>
              </a:rPr>
              <a:t>：模型预测为目标的检测中实际为真实目标的比例，用于衡量检测结果的准确性，反映误检抑制能力。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Recall（召回率）</a:t>
            </a:r>
            <a:r>
              <a:rPr lang="zh-CN" altLang="en-US" dirty="0" err="1" smtClean="0">
                <a:solidFill>
                  <a:schemeClr val="tx1"/>
                </a:solidFill>
              </a:rPr>
              <a:t>：真实目标中被模型成功检测到的比例，反映模型的检出能力，分析小目标和遮挡场景下的漏检情况。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endParaRPr lang="zh-CN" altLang="en-US" dirty="0" err="1" smtClean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跟踪性能指标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32130" y="1504950"/>
            <a:ext cx="10765155" cy="4718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MOTA（多目标跟踪准确率）</a:t>
            </a:r>
            <a:r>
              <a:rPr lang="zh-CN" altLang="en-US" dirty="0" err="1" smtClean="0">
                <a:solidFill>
                  <a:schemeClr val="tx1"/>
                </a:solidFill>
              </a:rPr>
              <a:t>：综合考虑漏检、误检和</a:t>
            </a:r>
            <a:r>
              <a:rPr lang="en-US" altLang="zh-CN" dirty="0" err="1" smtClean="0">
                <a:solidFill>
                  <a:schemeClr val="tx1"/>
                </a:solidFill>
              </a:rPr>
              <a:t>ID</a:t>
            </a:r>
            <a:r>
              <a:rPr lang="zh-CN" altLang="en-US" dirty="0" err="1" smtClean="0">
                <a:solidFill>
                  <a:schemeClr val="tx1"/>
                </a:solidFill>
              </a:rPr>
              <a:t>切换等因素，是多目标跟踪任务中衡量整体性能的核心指标，评价监控场景下的跟踪准确性。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IDF1（ID F1-score）</a:t>
            </a:r>
            <a:r>
              <a:rPr lang="zh-CN" altLang="en-US" dirty="0" err="1" smtClean="0">
                <a:solidFill>
                  <a:schemeClr val="tx1"/>
                </a:solidFill>
              </a:rPr>
              <a:t>：衡量跟踪过程中目标身份保持的一致性，重点关注</a:t>
            </a:r>
            <a:r>
              <a:rPr lang="en-US" altLang="zh-CN" dirty="0" err="1" smtClean="0">
                <a:solidFill>
                  <a:schemeClr val="tx1"/>
                </a:solidFill>
              </a:rPr>
              <a:t>ID</a:t>
            </a:r>
            <a:r>
              <a:rPr lang="zh-CN" altLang="en-US" dirty="0" err="1" smtClean="0">
                <a:solidFill>
                  <a:schemeClr val="tx1"/>
                </a:solidFill>
              </a:rPr>
              <a:t>分配的连续性，评估行人重识别与长期跟踪稳定性。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MT（ Mostly Tracked）</a:t>
            </a:r>
            <a:r>
              <a:rPr lang="zh-CN" altLang="en-US" dirty="0" err="1" smtClean="0">
                <a:solidFill>
                  <a:schemeClr val="tx1"/>
                </a:solidFill>
              </a:rPr>
              <a:t>：在整个序列中被成功跟踪时间超过</a:t>
            </a:r>
            <a:r>
              <a:rPr lang="en-US" altLang="zh-CN" dirty="0" err="1" smtClean="0">
                <a:solidFill>
                  <a:schemeClr val="tx1"/>
                </a:solidFill>
              </a:rPr>
              <a:t>80%</a:t>
            </a:r>
            <a:r>
              <a:rPr lang="zh-CN" altLang="en-US" dirty="0" err="1" smtClean="0">
                <a:solidFill>
                  <a:schemeClr val="tx1"/>
                </a:solidFill>
              </a:rPr>
              <a:t>的目标比例，衡量模型的持续跟踪能力。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ML（Mostly Lost）</a:t>
            </a:r>
            <a:r>
              <a:rPr lang="zh-CN" altLang="en-US" dirty="0" err="1" smtClean="0">
                <a:solidFill>
                  <a:schemeClr val="tx1"/>
                </a:solidFill>
              </a:rPr>
              <a:t>：在序列中被跟踪时间少于</a:t>
            </a:r>
            <a:r>
              <a:rPr lang="en-US" altLang="zh-CN" dirty="0" err="1" smtClean="0">
                <a:solidFill>
                  <a:schemeClr val="tx1"/>
                </a:solidFill>
              </a:rPr>
              <a:t>20%</a:t>
            </a:r>
            <a:r>
              <a:rPr lang="zh-CN" altLang="en-US" dirty="0" err="1" smtClean="0">
                <a:solidFill>
                  <a:schemeClr val="tx1"/>
                </a:solidFill>
              </a:rPr>
              <a:t>的目标比例，反映复杂场景下目标丢失的严重程度。</a:t>
            </a:r>
            <a:endParaRPr lang="zh-CN" altLang="en-US" dirty="0" err="1" smtClean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 err="1" smtClean="0">
                <a:solidFill>
                  <a:schemeClr val="tx1"/>
                </a:solidFill>
              </a:rPr>
              <a:t>ID Switch（ID切换次数）</a:t>
            </a:r>
            <a:r>
              <a:rPr lang="zh-CN" altLang="en-US" dirty="0" err="1" smtClean="0">
                <a:solidFill>
                  <a:schemeClr val="tx1"/>
                </a:solidFill>
              </a:rPr>
              <a:t>：同一真实目标在跟踪过程中被分配不同</a:t>
            </a:r>
            <a:r>
              <a:rPr lang="en-US" altLang="zh-CN" dirty="0" err="1" smtClean="0">
                <a:solidFill>
                  <a:schemeClr val="tx1"/>
                </a:solidFill>
              </a:rPr>
              <a:t>ID</a:t>
            </a:r>
            <a:r>
              <a:rPr lang="zh-CN" altLang="en-US" dirty="0" err="1" smtClean="0">
                <a:solidFill>
                  <a:schemeClr val="tx1"/>
                </a:solidFill>
              </a:rPr>
              <a:t>的次数，直接反映跟踪系统在遮挡、交叉等场景下的身份稳定性。</a:t>
            </a:r>
            <a:endParaRPr lang="zh-CN" altLang="en-US" dirty="0" err="1" smtClean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消融实验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97925" y="1643380"/>
            <a:ext cx="3176905" cy="45326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048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融合创新点后进行迁移训练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，实现了弥补模块组合适配缺陷，多模块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迁移训练实现协同增益。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48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48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MOT17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数据规模有限，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直接训练易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过拟合，收敛慢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等创新模块的效果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无法充分发挥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。迁移微调能快速适配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MOT17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" y="1276350"/>
            <a:ext cx="7748905" cy="4899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消融实验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45855" y="2080895"/>
            <a:ext cx="3176905" cy="36734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0480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YOLO11s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为参照：加入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GAM +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小目标结构增强来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提升小目标检测能力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，在此基础上，加入自定义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SIOU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后损失函数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优化了边界框回归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精度，兼顾了召回率与精确率的平衡。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3380"/>
            <a:ext cx="7954645" cy="3644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跟踪实验</a:t>
            </a:r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14705" y="4996180"/>
            <a:ext cx="10546715" cy="11899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048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通过迁移训练充分利用了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CrowdHuman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MOT17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数据集的互补性，结合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GAM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注意力、自定义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SIoU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等创新点，实现了小目标跟踪精度的跨越式提升；有效解决了直接训练时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小目标特征学习不充分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的问题。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95" y="1257935"/>
            <a:ext cx="7834630" cy="36233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7565" y="5509895"/>
            <a:ext cx="10861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改进前（左），改进后（右），改进后的模型在</a:t>
            </a:r>
            <a:r>
              <a:rPr lang="zh-CN" altLang="en-US" b="1"/>
              <a:t>高召回率</a:t>
            </a:r>
            <a:r>
              <a:rPr lang="zh-CN" altLang="en-US"/>
              <a:t>下仍能保持相对</a:t>
            </a:r>
            <a:r>
              <a:rPr lang="zh-CN" altLang="en-US" b="1"/>
              <a:t>较高的精确率</a:t>
            </a:r>
            <a:r>
              <a:rPr lang="zh-CN" altLang="en-US"/>
              <a:t>，</a:t>
            </a:r>
            <a:r>
              <a:rPr lang="zh-CN" altLang="en-US" b="1"/>
              <a:t>检测性能的稳定性与综合表现更优。</a:t>
            </a:r>
            <a:endParaRPr lang="zh-CN" altLang="en-US" b="1"/>
          </a:p>
        </p:txBody>
      </p:sp>
      <p:pic>
        <p:nvPicPr>
          <p:cNvPr id="13" name="图片 2"/>
          <p:cNvPicPr>
            <a:picLocks noChangeAspect="1"/>
          </p:cNvPicPr>
          <p:nvPr/>
        </p:nvPicPr>
        <p:blipFill>
          <a:blip r:embed="rId2"/>
          <a:srcRect l="1181" t="1535" r="2081" b="2783"/>
          <a:stretch>
            <a:fillRect/>
          </a:stretch>
        </p:blipFill>
        <p:spPr>
          <a:xfrm>
            <a:off x="485140" y="1485265"/>
            <a:ext cx="5314950" cy="3505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"/>
          <p:cNvPicPr>
            <a:picLocks noChangeAspect="1"/>
          </p:cNvPicPr>
          <p:nvPr/>
        </p:nvPicPr>
        <p:blipFill>
          <a:blip r:embed="rId3"/>
          <a:srcRect l="1516" t="1749" r="1550" b="2168"/>
          <a:stretch>
            <a:fillRect/>
          </a:stretch>
        </p:blipFill>
        <p:spPr>
          <a:xfrm>
            <a:off x="6219825" y="1485265"/>
            <a:ext cx="5362575" cy="35452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7565" y="5509895"/>
            <a:ext cx="10861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改进前（左），改进后（右），改进后模型在有效解决了直接训练时的</a:t>
            </a:r>
            <a:r>
              <a:rPr lang="en-US" altLang="zh-CN"/>
              <a:t> “</a:t>
            </a:r>
            <a:r>
              <a:rPr lang="zh-CN" altLang="en-US" b="1"/>
              <a:t>小目标</a:t>
            </a:r>
            <a:r>
              <a:rPr lang="en-US" altLang="zh-CN" b="1"/>
              <a:t> - </a:t>
            </a:r>
            <a:r>
              <a:rPr lang="zh-CN" altLang="en-US" b="1"/>
              <a:t>背景分类混淆</a:t>
            </a:r>
            <a:r>
              <a:rPr lang="en-US" altLang="zh-CN"/>
              <a:t>” </a:t>
            </a:r>
            <a:r>
              <a:rPr lang="zh-CN" altLang="en-US"/>
              <a:t>问题：既</a:t>
            </a:r>
            <a:r>
              <a:rPr lang="zh-CN" altLang="en-US" b="1"/>
              <a:t>减少背景误判</a:t>
            </a:r>
            <a:r>
              <a:rPr lang="zh-CN" altLang="en-US"/>
              <a:t>为小目标的假阳性错误，又</a:t>
            </a:r>
            <a:r>
              <a:rPr lang="zh-CN" altLang="en-US" b="1"/>
              <a:t>降低小目标漏检</a:t>
            </a:r>
            <a:r>
              <a:rPr lang="zh-CN" altLang="en-US"/>
              <a:t>的假阴性错误。</a:t>
            </a:r>
            <a:endParaRPr lang="zh-CN" altLang="en-US"/>
          </a:p>
        </p:txBody>
      </p:sp>
      <p:pic>
        <p:nvPicPr>
          <p:cNvPr id="21" name="图片 5"/>
          <p:cNvPicPr>
            <a:picLocks noChangeAspect="1"/>
          </p:cNvPicPr>
          <p:nvPr/>
        </p:nvPicPr>
        <p:blipFill>
          <a:blip r:embed="rId2"/>
          <a:srcRect l="9889" r="10878" b="6563"/>
          <a:stretch>
            <a:fillRect/>
          </a:stretch>
        </p:blipFill>
        <p:spPr>
          <a:xfrm>
            <a:off x="539750" y="1188085"/>
            <a:ext cx="483552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1"/>
          <p:cNvPicPr>
            <a:picLocks noChangeAspect="1"/>
          </p:cNvPicPr>
          <p:nvPr/>
        </p:nvPicPr>
        <p:blipFill>
          <a:blip r:embed="rId3"/>
          <a:srcRect l="9778" r="11600" b="6089"/>
          <a:stretch>
            <a:fillRect/>
          </a:stretch>
        </p:blipFill>
        <p:spPr>
          <a:xfrm>
            <a:off x="6145530" y="1143000"/>
            <a:ext cx="4826000" cy="43262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11345" y="3642360"/>
            <a:ext cx="3368675" cy="967740"/>
          </a:xfrm>
        </p:spPr>
        <p:txBody>
          <a:bodyPr>
            <a:normAutofit/>
          </a:bodyPr>
          <a:p>
            <a:pPr algn="ctr"/>
            <a:r>
              <a:rPr lang="en-US" altLang="zh-CN" b="0"/>
              <a:t>GUI</a:t>
            </a:r>
            <a:r>
              <a:rPr lang="zh-CN" altLang="en-US" b="0"/>
              <a:t>界面</a:t>
            </a:r>
            <a:endParaRPr lang="zh-CN" altLang="en-US" b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05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系统功能模块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91730" y="1588135"/>
            <a:ext cx="468122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主界面核心功能组件包括：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检测控制区</a:t>
            </a:r>
            <a:r>
              <a:rPr lang="zh-CN" altLang="en-US"/>
              <a:t>（模型选择下拉框，置信度阈值调节器，运行模式选择，摄像头开关，视频导出开关，操作按钮组）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图像显示区</a:t>
            </a:r>
            <a:r>
              <a:rPr lang="zh-CN" altLang="en-US"/>
              <a:t>（实时可视化展示区域，呈现检测与跟踪全过程）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检测结果列表区</a:t>
            </a:r>
            <a:r>
              <a:rPr lang="zh-CN" altLang="en-US"/>
              <a:t>（量化展示当前帧检测与跟踪状态）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系统状态栏</a:t>
            </a:r>
            <a:r>
              <a:rPr lang="zh-CN" altLang="en-US"/>
              <a:t>（</a:t>
            </a:r>
            <a:r>
              <a:rPr lang="en-US" altLang="zh-CN"/>
              <a:t> </a:t>
            </a:r>
            <a:r>
              <a:rPr lang="zh-CN" altLang="en-US"/>
              <a:t>实时反馈系统操作状态与参数配置）</a:t>
            </a:r>
            <a:endParaRPr lang="zh-CN" altLang="en-US"/>
          </a:p>
        </p:txBody>
      </p:sp>
      <p:pic>
        <p:nvPicPr>
          <p:cNvPr id="2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" y="1712595"/>
            <a:ext cx="6695440" cy="419608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系统功能模块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029575" y="1648460"/>
            <a:ext cx="404749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lang="zh-CN" altLang="en-US" b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选择基线模型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或改进模型测试，点击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选择视频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，准备跟踪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任务。</a:t>
            </a: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通过调节</a:t>
            </a:r>
            <a:r>
              <a:rPr lang="zh-CN" altLang="en-US" b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不同置信度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来进行检测。</a:t>
            </a: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可选择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运行模式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高精度模式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实时模式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之间切换，不同模式直接影响跟踪的精度与效率。</a:t>
            </a: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</a:t>
            </a:r>
            <a:r>
              <a:rPr lang="zh-CN" altLang="en-US" b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显示指标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fps</a:t>
            </a:r>
            <a:r>
              <a:rPr lang="zh-CN" altLang="en-US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，检测数和跟踪数。</a:t>
            </a:r>
            <a:endParaRPr lang="zh-CN" altLang="en-US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" y="1428115"/>
            <a:ext cx="7531735" cy="468693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系统功能模块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222490" y="1680845"/>
            <a:ext cx="4418965" cy="362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同时，还可以选择打开摄像头进行</a:t>
            </a:r>
            <a:r>
              <a:rPr lang="zh-CN" altLang="en-US" b="1"/>
              <a:t>实时监测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进行实时</a:t>
            </a:r>
            <a:r>
              <a:rPr lang="en-US" altLang="zh-CN" b="1">
                <a:sym typeface="+mn-ea"/>
              </a:rPr>
              <a:t> YOLO11 </a:t>
            </a:r>
            <a:r>
              <a:rPr lang="zh-CN" altLang="en-US" b="1">
                <a:sym typeface="+mn-ea"/>
              </a:rPr>
              <a:t>检测</a:t>
            </a:r>
            <a:r>
              <a:rPr lang="en-US" altLang="zh-CN" b="1">
                <a:sym typeface="+mn-ea"/>
              </a:rPr>
              <a:t> + DeepSORT </a:t>
            </a:r>
            <a:r>
              <a:rPr lang="zh-CN" altLang="en-US" b="1">
                <a:sym typeface="+mn-ea"/>
              </a:rPr>
              <a:t>跟踪</a:t>
            </a:r>
            <a:r>
              <a:rPr lang="zh-CN" altLang="en-US">
                <a:sym typeface="+mn-ea"/>
              </a:rPr>
              <a:t>，并在界面显示带</a:t>
            </a:r>
            <a:r>
              <a:rPr lang="en-US" altLang="zh-CN">
                <a:sym typeface="+mn-ea"/>
              </a:rPr>
              <a:t> ID </a:t>
            </a:r>
            <a:r>
              <a:rPr lang="zh-CN" altLang="en-US">
                <a:sym typeface="+mn-ea"/>
              </a:rPr>
              <a:t>的跟踪框和轨迹。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点击</a:t>
            </a:r>
            <a:r>
              <a:rPr lang="en-US" altLang="zh-CN"/>
              <a:t>"</a:t>
            </a:r>
            <a:r>
              <a:rPr lang="zh-CN" altLang="en-US"/>
              <a:t>停止</a:t>
            </a:r>
            <a:r>
              <a:rPr lang="en-US" altLang="zh-CN"/>
              <a:t>"</a:t>
            </a:r>
            <a:r>
              <a:rPr lang="zh-CN" altLang="en-US"/>
              <a:t>按钮可结束实时跟踪，摄像头资源将被自动释放，并把保存带有</a:t>
            </a:r>
            <a:r>
              <a:rPr lang="en-US" altLang="zh-CN"/>
              <a:t>ID</a:t>
            </a:r>
            <a:r>
              <a:rPr lang="zh-CN" altLang="en-US"/>
              <a:t>的</a:t>
            </a:r>
            <a:r>
              <a:rPr lang="zh-CN" altLang="en-US"/>
              <a:t>跟踪视频。</a:t>
            </a:r>
            <a:endParaRPr lang="zh-CN" altLang="en-US"/>
          </a:p>
        </p:txBody>
      </p:sp>
      <p:pic>
        <p:nvPicPr>
          <p:cNvPr id="3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1489710"/>
            <a:ext cx="6836410" cy="384556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系统功能模块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222490" y="1981835"/>
            <a:ext cx="4418965" cy="362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最后，将跟踪后的带有</a:t>
            </a:r>
            <a:r>
              <a:rPr lang="en-US" altLang="zh-CN"/>
              <a:t>ID</a:t>
            </a:r>
            <a:r>
              <a:rPr lang="zh-CN" altLang="en-US"/>
              <a:t>的视频自动</a:t>
            </a:r>
            <a:r>
              <a:rPr lang="zh-CN" altLang="en-US" b="1"/>
              <a:t>保存</a:t>
            </a:r>
            <a:r>
              <a:rPr lang="zh-CN" altLang="en-US"/>
              <a:t>在文件中，以便后续</a:t>
            </a:r>
            <a:r>
              <a:rPr lang="zh-CN" altLang="en-US"/>
              <a:t>观察。</a:t>
            </a:r>
            <a:endParaRPr lang="zh-CN" altLang="en-US"/>
          </a:p>
        </p:txBody>
      </p:sp>
      <p:pic>
        <p:nvPicPr>
          <p:cNvPr id="3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98575"/>
            <a:ext cx="6527165" cy="53098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11345" y="3642360"/>
            <a:ext cx="3368675" cy="967740"/>
          </a:xfrm>
        </p:spPr>
        <p:txBody>
          <a:bodyPr>
            <a:normAutofit/>
          </a:bodyPr>
          <a:p>
            <a:pPr algn="ctr"/>
            <a:r>
              <a:rPr lang="zh-CN" altLang="en-US" b="0"/>
              <a:t>总结</a:t>
            </a:r>
            <a:r>
              <a:rPr lang="zh-CN" altLang="en-US" b="0"/>
              <a:t>展望</a:t>
            </a:r>
            <a:endParaRPr lang="zh-CN" altLang="en-US" b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>
          <a:xfrm>
            <a:off x="4816475" y="2093595"/>
            <a:ext cx="2558415" cy="914400"/>
          </a:xfrm>
        </p:spPr>
        <p:txBody>
          <a:bodyPr>
            <a:noAutofit/>
          </a:bodyPr>
          <a:p>
            <a:pPr algn="ctr">
              <a:lnSpc>
                <a:spcPct val="109000"/>
              </a:lnSpc>
              <a:buClrTx/>
              <a:buSzTx/>
            </a:pPr>
            <a:r>
              <a:rPr lang="en-US" altLang="en-US" sz="8000" b="1">
                <a:solidFill>
                  <a:schemeClr val="accent1"/>
                </a:solidFill>
                <a:uFillTx/>
                <a:latin typeface="+mj-ea"/>
                <a:ea typeface="+mj-ea"/>
              </a:rPr>
              <a:t>06</a:t>
            </a:r>
            <a:endParaRPr lang="en-US" altLang="en-US" sz="8000" b="1">
              <a:solidFill>
                <a:schemeClr val="accent1"/>
              </a:solidFill>
              <a:uFillTx/>
              <a:latin typeface="+mj-ea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实验总结和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未来展望</a:t>
            </a:r>
            <a:endParaRPr lang="zh-CN" altLang="en-US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文本占位符 5"/>
          <p:cNvSpPr/>
          <p:nvPr>
            <p:ph type="body" idx="16386"/>
            <p:custDataLst>
              <p:tags r:id="rId2"/>
            </p:custDataLst>
          </p:nvPr>
        </p:nvSpPr>
        <p:spPr>
          <a:xfrm>
            <a:off x="6600903" y="4125195"/>
            <a:ext cx="5181600" cy="406400"/>
          </a:xfrm>
        </p:spPr>
        <p:txBody>
          <a:bodyPr>
            <a:noAutofit/>
          </a:bodyPr>
          <a:p>
            <a:r>
              <a:rPr lang="zh-CN" altLang="en-US" sz="2800" b="1">
                <a:solidFill>
                  <a:schemeClr val="bg2">
                    <a:lumMod val="50000"/>
                  </a:schemeClr>
                </a:solidFill>
              </a:rPr>
              <a:t>长时跟踪改进方向</a:t>
            </a:r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占位符 6"/>
          <p:cNvSpPr/>
          <p:nvPr>
            <p:ph type="body" idx="16387"/>
            <p:custDataLst>
              <p:tags r:id="rId3"/>
            </p:custDataLst>
          </p:nvPr>
        </p:nvSpPr>
        <p:spPr>
          <a:xfrm>
            <a:off x="6600825" y="4683760"/>
            <a:ext cx="5181600" cy="1045845"/>
          </a:xfrm>
        </p:spPr>
        <p:txBody>
          <a:bodyPr>
            <a:noAutofit/>
          </a:bodyPr>
          <a:p>
            <a:r>
              <a:rPr lang="zh-CN" altLang="en-US" sz="1800"/>
              <a:t>集成</a:t>
            </a:r>
            <a:r>
              <a:rPr lang="en-US" altLang="zh-CN" sz="1800"/>
              <a:t> Transformer </a:t>
            </a:r>
            <a:r>
              <a:rPr lang="zh-CN" altLang="en-US" sz="1800"/>
              <a:t>架构与长时记忆机制，增强目标特征跨帧关联能力，提升遮挡场景下的跟踪稳定性</a:t>
            </a:r>
            <a:endParaRPr lang="zh-CN" altLang="en-US" sz="18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10" name="文本占位符 9"/>
          <p:cNvSpPr/>
          <p:nvPr>
            <p:ph type="body" idx="16388"/>
            <p:custDataLst>
              <p:tags r:id="rId4"/>
            </p:custDataLst>
          </p:nvPr>
        </p:nvSpPr>
        <p:spPr>
          <a:xfrm>
            <a:off x="6600903" y="2066086"/>
            <a:ext cx="5181600" cy="406400"/>
          </a:xfrm>
        </p:spPr>
        <p:txBody>
          <a:bodyPr>
            <a:noAutofit/>
          </a:bodyPr>
          <a:p>
            <a:r>
              <a:rPr lang="zh-CN" altLang="en-US" sz="2800" b="1">
                <a:solidFill>
                  <a:schemeClr val="bg2">
                    <a:lumMod val="50000"/>
                  </a:schemeClr>
                </a:solidFill>
              </a:rPr>
              <a:t>多模态融合方向</a:t>
            </a:r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 sz="2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文本占位符 10"/>
          <p:cNvSpPr/>
          <p:nvPr>
            <p:ph type="body" idx="16389"/>
            <p:custDataLst>
              <p:tags r:id="rId5"/>
            </p:custDataLst>
          </p:nvPr>
        </p:nvSpPr>
        <p:spPr>
          <a:xfrm>
            <a:off x="6600903" y="2624886"/>
            <a:ext cx="5181600" cy="609600"/>
          </a:xfrm>
        </p:spPr>
        <p:txBody>
          <a:bodyPr>
            <a:noAutofit/>
          </a:bodyPr>
          <a:p>
            <a:r>
              <a:rPr lang="zh-CN" altLang="en-US" sz="1800"/>
              <a:t>结合红外与可见光多源数据，利用传感器互补优势，突破恶劣环境下的检测局限，增强目标特征辨识度</a:t>
            </a:r>
            <a:endParaRPr lang="zh-CN" altLang="en-US" sz="18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20" name="文本占位符 4"/>
          <p:cNvSpPr/>
          <p:nvPr>
            <p:custDataLst>
              <p:tags r:id="rId6"/>
            </p:custDataLst>
          </p:nvPr>
        </p:nvSpPr>
        <p:spPr>
          <a:xfrm>
            <a:off x="409319" y="2066157"/>
            <a:ext cx="518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技术</a:t>
            </a:r>
            <a:r>
              <a:rPr lang="zh-CN" altLang="en-US" sz="2800" b="1"/>
              <a:t>方案</a:t>
            </a:r>
            <a:endParaRPr lang="zh-CN" altLang="en-US" sz="2800" b="1"/>
          </a:p>
        </p:txBody>
      </p:sp>
      <p:sp>
        <p:nvSpPr>
          <p:cNvPr id="21" name="文本占位符 5"/>
          <p:cNvSpPr/>
          <p:nvPr>
            <p:custDataLst>
              <p:tags r:id="rId7"/>
            </p:custDataLst>
          </p:nvPr>
        </p:nvSpPr>
        <p:spPr>
          <a:xfrm>
            <a:off x="409575" y="2625090"/>
            <a:ext cx="5274945" cy="11918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构建</a:t>
            </a:r>
            <a:r>
              <a:rPr lang="en-US" altLang="zh-CN" sz="1800"/>
              <a:t>"</a:t>
            </a:r>
            <a:r>
              <a:rPr lang="zh-CN" altLang="en-US" sz="1800"/>
              <a:t>预训练</a:t>
            </a:r>
            <a:r>
              <a:rPr lang="en-US" altLang="zh-CN" sz="1800"/>
              <a:t>-</a:t>
            </a:r>
            <a:r>
              <a:rPr lang="zh-CN" altLang="en-US" sz="1800"/>
              <a:t>结构优化</a:t>
            </a:r>
            <a:r>
              <a:rPr lang="en-US" altLang="zh-CN" sz="1800"/>
              <a:t>-</a:t>
            </a:r>
            <a:r>
              <a:rPr lang="zh-CN" altLang="en-US" sz="1800"/>
              <a:t>迁移训练</a:t>
            </a:r>
            <a:r>
              <a:rPr lang="en-US" altLang="zh-CN" sz="1800"/>
              <a:t>"</a:t>
            </a:r>
            <a:r>
              <a:rPr lang="zh-CN" altLang="en-US" sz="1800"/>
              <a:t>三阶段框架，集成</a:t>
            </a:r>
            <a:r>
              <a:rPr lang="en-US" altLang="zh-CN" sz="1800"/>
              <a:t> GAM </a:t>
            </a:r>
            <a:r>
              <a:rPr lang="zh-CN" altLang="en-US" sz="1800"/>
              <a:t>注意力机制与小目标增强结构，采用改进</a:t>
            </a:r>
            <a:r>
              <a:rPr lang="en-US" altLang="zh-CN" sz="1800"/>
              <a:t> SIoU </a:t>
            </a:r>
            <a:r>
              <a:rPr lang="zh-CN" altLang="en-US" sz="1800"/>
              <a:t>损失函数，显著提升小目标特征表征能力</a:t>
            </a:r>
            <a:endParaRPr lang="zh-CN" altLang="en-US" sz="1800"/>
          </a:p>
          <a:p>
            <a:endParaRPr lang="en-US" altLang="zh-CN" sz="1800"/>
          </a:p>
          <a:p>
            <a:endParaRPr lang="en-US" altLang="zh-CN" sz="1800"/>
          </a:p>
        </p:txBody>
      </p:sp>
      <p:sp>
        <p:nvSpPr>
          <p:cNvPr id="22" name="文本占位符 7"/>
          <p:cNvSpPr/>
          <p:nvPr>
            <p:custDataLst>
              <p:tags r:id="rId8"/>
            </p:custDataLst>
          </p:nvPr>
        </p:nvSpPr>
        <p:spPr>
          <a:xfrm>
            <a:off x="409320" y="4125230"/>
            <a:ext cx="5181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系统</a:t>
            </a:r>
            <a:r>
              <a:rPr lang="zh-CN" altLang="en-US" sz="2800" b="1"/>
              <a:t>实现</a:t>
            </a:r>
            <a:endParaRPr lang="zh-CN" altLang="en-US" sz="2800" b="1"/>
          </a:p>
        </p:txBody>
      </p:sp>
      <p:sp>
        <p:nvSpPr>
          <p:cNvPr id="23" name="文本占位符 8"/>
          <p:cNvSpPr/>
          <p:nvPr>
            <p:custDataLst>
              <p:tags r:id="rId9"/>
            </p:custDataLst>
          </p:nvPr>
        </p:nvSpPr>
        <p:spPr>
          <a:xfrm>
            <a:off x="409575" y="4683760"/>
            <a:ext cx="5181600" cy="135509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深度融合</a:t>
            </a:r>
            <a:r>
              <a:rPr lang="en-US" altLang="zh-CN" sz="1800"/>
              <a:t> DeepSORT </a:t>
            </a:r>
            <a:r>
              <a:rPr lang="zh-CN" altLang="en-US" sz="1800"/>
              <a:t>跟踪算法与</a:t>
            </a:r>
            <a:r>
              <a:rPr lang="en-US" altLang="zh-CN" sz="1800"/>
              <a:t> GUI </a:t>
            </a:r>
            <a:r>
              <a:rPr lang="zh-CN" altLang="en-US" sz="1800"/>
              <a:t>可视化模块，建立</a:t>
            </a:r>
            <a:r>
              <a:rPr lang="en-US" altLang="zh-CN" sz="1800"/>
              <a:t>"</a:t>
            </a:r>
            <a:r>
              <a:rPr lang="zh-CN" altLang="en-US" sz="1800"/>
              <a:t>检测</a:t>
            </a:r>
            <a:r>
              <a:rPr lang="en-US" altLang="zh-CN" sz="1800"/>
              <a:t>-</a:t>
            </a:r>
            <a:r>
              <a:rPr lang="zh-CN" altLang="en-US" sz="1800"/>
              <a:t>跟踪</a:t>
            </a:r>
            <a:r>
              <a:rPr lang="en-US" altLang="zh-CN" sz="1800"/>
              <a:t>-</a:t>
            </a:r>
            <a:r>
              <a:rPr lang="zh-CN" altLang="en-US" sz="1800"/>
              <a:t>评估</a:t>
            </a:r>
            <a:r>
              <a:rPr lang="en-US" altLang="zh-CN" sz="1800"/>
              <a:t>-</a:t>
            </a:r>
            <a:r>
              <a:rPr lang="zh-CN" altLang="en-US" sz="1800"/>
              <a:t>可视化</a:t>
            </a:r>
            <a:r>
              <a:rPr lang="en-US" altLang="zh-CN" sz="1800"/>
              <a:t>"</a:t>
            </a:r>
            <a:r>
              <a:rPr lang="zh-CN" altLang="en-US" sz="1800"/>
              <a:t>完整闭环，兼顾算法深度与工程实用性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506075" y="70485"/>
            <a:ext cx="1074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23/24</a:t>
            </a:r>
            <a:endParaRPr lang="en-US" altLang="zh-CN" b="1"/>
          </a:p>
        </p:txBody>
      </p:sp>
    </p:spTree>
    <p:custDataLst>
      <p:tags r:id="rId10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>
          <a:xfrm>
            <a:off x="4454525" y="2541905"/>
            <a:ext cx="3368675" cy="967740"/>
          </a:xfrm>
        </p:spPr>
        <p:txBody>
          <a:bodyPr>
            <a:normAutofit/>
          </a:bodyPr>
          <a:p>
            <a:pPr algn="ctr"/>
            <a:r>
              <a:rPr lang="zh-CN" altLang="en-US"/>
              <a:t>谢谢</a:t>
            </a:r>
            <a:r>
              <a:rPr lang="zh-CN" altLang="en-US"/>
              <a:t>大家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b5ce80ab23350c6912ede418af161e7be5f243c"/>
  <p:tag name="KSO_WM_NEWLAYOUT_GROUP_ID" val="layout_42"/>
  <p:tag name="KSO_WM_NEWLAYOUT_ID" val="slide_c13321443022db2c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72a370575564b3524521cd0953d9a63e425b6b"/>
  <p:tag name="KSO_WM_NEWLAYOUT_GROUP_ID" val="layout_62"/>
  <p:tag name="KSO_WM_NEWLAYOUT_ID" val="slide_b3ee0e64aa19972f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35496abcc7c772256787742196e3ce2bd9f3f59"/>
  <p:tag name="KSO_WM_NEWLAYOUT_GROUP_ID" val="layout_61"/>
  <p:tag name="KSO_WM_NEWLAYOUT_ID" val="slide_15cb9f4c4c6c7b02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3152064fe63e95e9e4de5fe128b5d8a5270a61"/>
  <p:tag name="KSO_WM_NEWLAYOUT_GROUP_ID" val="layout_30"/>
  <p:tag name="KSO_WM_NEWLAYOUT_ID" val="slide_cff4d5403599244e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d736190b75bd84a3dc7d35922412f7560bc7764"/>
  <p:tag name="KSO_WM_NEWLAYOUT_GROUP_ID" val="layout_26"/>
  <p:tag name="KSO_WM_NEWLAYOUT_ID" val="slide_6e765ebf722d3c8d"/>
</p:tagLst>
</file>

<file path=ppt/tags/tag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ee63c4950f2c3139b812bc96e8799a7fb2c69d"/>
  <p:tag name="KSO_WM_NEWLAYOUT_GROUP_ID" val="layout_6"/>
  <p:tag name="KSO_WM_NEWLAYOUT_ID" val="slide_eed479e195e559c9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da6948dec3f678a9e9f84a43f58fb5e1151713"/>
  <p:tag name="KSO_WM_NEWLAYOUT_GROUP_ID" val="layout_10009"/>
  <p:tag name="KSO_WM_NEWLAYOUT_ID" val="slide_6977251e26b74a7b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340afe2d9b5b10ef2e64a1667c00d27ff85382"/>
  <p:tag name="KSO_WM_NEWLAYOUT_GROUP_ID" val="layout_53"/>
  <p:tag name="KSO_WM_NEWLAYOUT_ID" val="slide_1c63f389541666c8"/>
</p:tagLst>
</file>

<file path=ppt/tags/tag8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b5ae3599d40814835d667724f9462dcb84116b"/>
  <p:tag name="KSO_WM_NEWLAYOUT_GROUP_ID" val="layout_2"/>
  <p:tag name="KSO_WM_NEWLAYOUT_ID" val="slide_250f5b83123f6923"/>
</p:tagLst>
</file>

<file path=ppt/tags/tag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75a7394719c709fb0abe83717ddb303cc8bd42"/>
  <p:tag name="KSO_WM_NEWLAYOUT_GROUP_ID" val="layout_60"/>
  <p:tag name="KSO_WM_NEWLAYOUT_ID" val="slide_7a497b07d3397511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688399056d43db91e47b4282f15a53d8ec67fac"/>
  <p:tag name="KSO_WM_NEWLAYOUT_GROUP_ID" val="layout_1-5"/>
  <p:tag name="KSO_WM_NEWLAYOUT_ID" val="slide_cea45c27deb23863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541"/>
  <p:tag name="KSO_WM_TEMPLATE_CATEGORY" val="custom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541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541"/>
  <p:tag name="KSO_WM_TEMPLATE_CATEGORY" val="custom"/>
</p:tagLst>
</file>

<file path=ppt/tags/tag1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1"/>
  <p:tag name="KSO_WM_TEMPLATE_CATEGORY" val="custom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  <p:tag name="KSO_WM_UNIT_ISNUMDGMTITLE" val="0"/>
  <p:tag name="KSO_WM_TEMPLATE_INDEX" val="40490541"/>
  <p:tag name="KSO_WM_TEMPLATE_CATEGORY" val="custom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  <p:tag name="KSO_WM_UNIT_ISNUMDGMTITLE" val="0"/>
  <p:tag name="KSO_WM_TEMPLATE_INDEX" val="40490541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541"/>
  <p:tag name="KSO_WM_TEMPLATE_CATEGORY" val="custom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541"/>
  <p:tag name="KSO_WM_TEMPLATE_CATEGORY" val="custom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541"/>
  <p:tag name="KSO_WM_TEMPLATE_CATEGORY" val="custom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541"/>
  <p:tag name="KSO_WM_TEMPLATE_CATEGORY" val="custom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541"/>
  <p:tag name="KSO_WM_TEMPLATE_CATEGORY" val="custom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541"/>
  <p:tag name="KSO_WM_TEMPLATE_CATEGORY" val="custom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541"/>
  <p:tag name="KSO_WM_TEMPLATE_CATEGORY" val="custom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541"/>
  <p:tag name="KSO_WM_TEMPLATE_CATEGORY" val="custom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  <p:tag name="KSO_WM_TEMPLATE_INDEX" val="40490541"/>
  <p:tag name="KSO_WM_TEMPLATE_CATEGORY" val="custom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1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8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8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8764a775a8d2f1a8989b291baff8f8d99def83a"/>
  <p:tag name="KSO_WM_NEWLAYOUT_ID" val="904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8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1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19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1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541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19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19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091ac2364532782f76583370b8ff8b2d7fec5ba"/>
  <p:tag name="KSO_WM_NEWLAYOUT_ID" val="916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1ac2dd4a6b351134dc5ad83182a27b3c240bd30"/>
  <p:tag name="KSO_WM_NEWLAYOUT_ID" val="1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d7354b805aee579fd84ebe367548d733ac2b1d"/>
  <p:tag name="KSO_WM_NEWLAYOUT_GROUP_ID" val="layout_3"/>
  <p:tag name="KSO_WM_NEWLAYOUT_ID" val="slide_d34ee385bdad3e3c"/>
</p:tagLst>
</file>

<file path=ppt/tags/tag22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34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f2d6b1add6c8d0c25d2b880f078f4ca5dab529"/>
  <p:tag name="KSO_WM_NEWLAYOUT_GROUP_ID" val="layout_48"/>
  <p:tag name="KSO_WM_NEWLAYOUT_ID" val="slide_10d253ff511e52b1"/>
</p:tagLst>
</file>

<file path=ppt/tags/tag2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fa2b01daf5382634edc12bf1fc99999b25e74"/>
  <p:tag name="KSO_WM_NEWLAYOUT_ID" val="slide_2faf873680021aa9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</p:tagLst>
</file>

<file path=ppt/tags/tag27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4049054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40490541"/>
  <p:tag name="KSO_WM_UNIT_ISNUMDGMTITLE" val="0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41"/>
  <p:tag name="KSO_WM_TEMPLATE_CATEGORY" val="custom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541"/>
  <p:tag name="KSO_WM_TEMPLATE_CATEGORY" val="custom"/>
</p:tagLst>
</file>

<file path=ppt/tags/tag2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41"/>
  <p:tag name="KSO_WM_TEMPLATE_CATEGORY" val="custom"/>
</p:tagLst>
</file>

<file path=ppt/tags/tag297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41"/>
  <p:tag name="KSO_WM_TEMPLATE_CATEGORY" val="custom"/>
  <p:tag name="KSO_WM_TEMPLATE_MASTER_TYPE" val="0"/>
  <p:tag name="KSO_WM_TAG_VERSION" val="3.0"/>
</p:tagLst>
</file>

<file path=ppt/tags/tag298.xml><?xml version="1.0" encoding="utf-8"?>
<p:tagLst xmlns:p="http://schemas.openxmlformats.org/presentationml/2006/main">
  <p:tag name="KSO_WM_AITEMPLATE_STYLE_ID" val="69796637463"/>
</p:tagLst>
</file>

<file path=ppt/tags/tag29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8764a775a8d2f1a8989b291baff8f8d99def83a"/>
  <p:tag name="KSO_WM_NEWLAYOUT_ID" val="90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0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0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0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688399056d43db91e47b4282f15a53d8ec67fac"/>
  <p:tag name="KSO_WM_NEWLAYOUT_GROUP_ID" val="layout_1-5"/>
  <p:tag name="KSO_WM_NEWLAYOUT_ID" val="slide_cea45c27deb23863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3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3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323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2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26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75a7394719c709fb0abe83717ddb303cc8bd42"/>
  <p:tag name="KSO_WM_NEWLAYOUT_GROUP_ID" val="layout_60"/>
  <p:tag name="KSO_WM_NEWLAYOUT_ID" val="slide_7a497b07d3397511"/>
  <p:tag name="KSO_WM_UNIT_PRESET_TEXT" val="单击此处添加标题"/>
</p:tagLst>
</file>

<file path=ppt/tags/tag32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7a497b07d3397511"/>
</p:tagLst>
</file>

<file path=ppt/tags/tag34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4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da6948dec3f678a9e9f84a43f58fb5e1151713"/>
  <p:tag name="KSO_WM_NEWLAYOUT_GROUP_ID" val="layout_10009"/>
  <p:tag name="KSO_WM_NEWLAYOUT_ID" val="slide_6977251e26b74a7b"/>
  <p:tag name="KSO_WM_UNIT_PRESET_TEXT" val="单击此处添加标题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6977251e26b74a7b"/>
</p:tagLst>
</file>

<file path=ppt/tags/tag35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5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340afe2d9b5b10ef2e64a1667c00d27ff85382"/>
  <p:tag name="KSO_WM_NEWLAYOUT_GROUP_ID" val="layout_53"/>
  <p:tag name="KSO_WM_NEWLAYOUT_ID" val="slide_1c63f389541666c8"/>
  <p:tag name="KSO_WM_UNIT_PRESET_TEXT" val="单击此处添加标题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7463"/>
  <p:tag name="KSO_WM_TEMPLATE_SLIDE_ID" val="slide_1c63f389541666c8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340afe2d9b5b10ef2e64a1667c00d27ff85382"/>
  <p:tag name="KSO_WM_NEWLAYOUT_GROUP_ID" val="layout_53"/>
  <p:tag name="KSO_WM_NEWLAYOUT_ID" val="slide_1c63f389541666c8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7463"/>
  <p:tag name="KSO_WM_TEMPLATE_SLIDE_ID" val="slide_1c63f389541666c8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ee63c4950f2c3139b812bc96e8799a7fb2c69d"/>
  <p:tag name="KSO_WM_NEWLAYOUT_GROUP_ID" val="layout_6"/>
  <p:tag name="KSO_WM_NEWLAYOUT_ID" val="slide_eed479e195e559c9"/>
  <p:tag name="KSO_WM_UNIT_PRESET_TEXT" val="单击此处添加标题"/>
</p:tagLst>
</file>

<file path=ppt/tags/tag3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  <p:tag name="KSO_WM_DIAGRAM_VIRTUALLY_FRAME" val="{&quot;height&quot;:224,&quot;left&quot;:48,&quot;top&quot;:144.8,&quot;width&quot;:498}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224,&quot;left&quot;:48,&quot;top&quot;:144.8,&quot;width&quot;:498}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224,&quot;left&quot;:48,&quot;top&quot;:144.8,&quot;width&quot;:498}"/>
</p:tagLst>
</file>

<file path=ppt/tags/tag3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  <p:tag name="KSO_WM_DIAGRAM_VIRTUALLY_FRAME" val="{&quot;height&quot;:224,&quot;left&quot;:48,&quot;top&quot;:144.8,&quot;width&quot;:498}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224,&quot;left&quot;:48,&quot;top&quot;:144.8,&quot;width&quot;:498}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224,&quot;left&quot;:48,&quot;top&quot;:144.8,&quot;width&quot;:498}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eed479e195e559c9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d736190b75bd84a3dc7d35922412f7560bc7764"/>
  <p:tag name="KSO_WM_NEWLAYOUT_GROUP_ID" val="layout_26"/>
  <p:tag name="KSO_WM_NEWLAYOUT_ID" val="slide_6e765ebf722d3c8d"/>
  <p:tag name="KSO_WM_UNIT_PRESET_TEXT" val="单击此处添加标题"/>
</p:tagLst>
</file>

<file path=ppt/tags/tag3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  <p:tag name="KSO_WM_DIAGRAM_VIRTUALLY_FRAME" val="{&quot;height&quot;:365,&quot;left&quot;:56.7,&quot;top&quot;:127,&quot;width&quot;:420}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365,&quot;left&quot;:56.7,&quot;top&quot;:127,&quot;width&quot;:420}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65,&quot;left&quot;:56.7,&quot;top&quot;:127,&quot;width&quot;:420}"/>
</p:tagLst>
</file>

<file path=ppt/tags/tag3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  <p:tag name="KSO_WM_DIAGRAM_VIRTUALLY_FRAME" val="{&quot;height&quot;:365,&quot;left&quot;:56.7,&quot;top&quot;:127,&quot;width&quot;:420}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365,&quot;left&quot;:56.7,&quot;top&quot;:127,&quot;width&quot;:420}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65,&quot;left&quot;:56.7,&quot;top&quot;:127,&quot;width&quot;:420}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6e765ebf722d3c8d"/>
</p:tagLst>
</file>

<file path=ppt/tags/tag3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8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8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3152064fe63e95e9e4de5fe128b5d8a5270a61"/>
  <p:tag name="KSO_WM_NEWLAYOUT_GROUP_ID" val="layout_30"/>
  <p:tag name="KSO_WM_NEWLAYOUT_ID" val="slide_cff4d5403599244e"/>
  <p:tag name="KSO_WM_UNIT_PRESET_TEXT" val="单击此处添加标题"/>
</p:tagLst>
</file>

<file path=ppt/tags/tag38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cff4d5403599244e"/>
</p:tagLst>
</file>

<file path=ppt/tags/tag3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35496abcc7c772256787742196e3ce2bd9f3f59"/>
  <p:tag name="KSO_WM_NEWLAYOUT_GROUP_ID" val="layout_61"/>
  <p:tag name="KSO_WM_NEWLAYOUT_ID" val="slide_15cb9f4c4c6c7b02"/>
  <p:tag name="KSO_WM_UNIT_PRESET_TEXT" val="单击此处添加标题"/>
</p:tagLst>
</file>

<file path=ppt/tags/tag38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15cb9f4c4c6c7b02"/>
</p:tagLst>
</file>

<file path=ppt/tags/tag3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d7354b805aee579fd84ebe367548d733ac2b1d"/>
  <p:tag name="KSO_WM_NEWLAYOUT_GROUP_ID" val="layout_3"/>
  <p:tag name="KSO_WM_NEWLAYOUT_ID" val="slide_d34ee385bdad3e3c"/>
  <p:tag name="KSO_WM_UNIT_PRESET_TEXT" val="单击此处添加标题"/>
</p:tagLst>
</file>

<file path=ppt/tags/tag38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d34ee385bdad3e3c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d7354b805aee579fd84ebe367548d733ac2b1d"/>
  <p:tag name="KSO_WM_NEWLAYOUT_GROUP_ID" val="layout_3"/>
  <p:tag name="KSO_WM_NEWLAYOUT_ID" val="slide_d34ee385bdad3e3c"/>
  <p:tag name="KSO_WM_UNIT_PRESET_TEXT" val="单击此处添加标题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d34ee385bdad3e3c"/>
</p:tagLst>
</file>

<file path=ppt/tags/tag3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f2d6b1add6c8d0c25d2b880f078f4ca5dab529"/>
  <p:tag name="KSO_WM_NEWLAYOUT_GROUP_ID" val="layout_48"/>
  <p:tag name="KSO_WM_NEWLAYOUT_ID" val="slide_10d253ff511e52b1"/>
  <p:tag name="KSO_WM_UNIT_PRESET_TEXT" val="单击此处添加标题"/>
</p:tagLst>
</file>

<file path=ppt/tags/tag39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10d253ff511e52b1"/>
</p:tagLst>
</file>

<file path=ppt/tags/tag3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  <p:tag name="KSO_WM_UNIT_PRESET_TEXT" val="单击此处添加标题"/>
</p:tagLst>
</file>

<file path=ppt/tags/tag39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90cdd96762bb354a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  <p:tag name="KSO_WM_UNIT_PRESET_TEXT" val="单击此处添加标题"/>
</p:tagLst>
</file>

<file path=ppt/tags/tag39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90cdd96762bb354a"/>
</p:tagLst>
</file>

<file path=ppt/tags/tag39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9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399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72a370575564b3524521cd0953d9a63e425b6b"/>
  <p:tag name="KSO_WM_NEWLAYOUT_GROUP_ID" val="layout_62"/>
  <p:tag name="KSO_WM_NEWLAYOUT_ID" val="slide_b3ee0e64aa19972f"/>
  <p:tag name="KSO_WM_UNIT_PRESET_TEXT" val="单击此处添加标题"/>
</p:tagLst>
</file>

<file path=ppt/tags/tag40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b3ee0e64aa19972f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72a370575564b3524521cd0953d9a63e425b6b"/>
  <p:tag name="KSO_WM_NEWLAYOUT_GROUP_ID" val="layout_62"/>
  <p:tag name="KSO_WM_NEWLAYOUT_ID" val="slide_b3ee0e64aa19972f"/>
  <p:tag name="KSO_WM_UNIT_PRESET_TEXT" val="单击此处添加标题"/>
</p:tagLst>
</file>

<file path=ppt/tags/tag40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7463"/>
  <p:tag name="KSO_WM_TEMPLATE_SLIDE_ID" val="slide_b3ee0e64aa19972f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  <p:tag name="KSO_WM_UNIT_PRESET_TEXT" val="单击此处添加标题"/>
</p:tagLst>
</file>

<file path=ppt/tags/tag40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066502526bed56d0"/>
</p:tagLst>
</file>

<file path=ppt/tags/tag4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  <p:tag name="KSO_WM_UNIT_PRESET_TEXT" val="单击此处添加标题"/>
</p:tagLst>
</file>

<file path=ppt/tags/tag40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066502526bed56d0"/>
</p:tagLst>
</file>

<file path=ppt/tags/tag40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40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7fa2b01daf5382634edc12bf1fc99999b25e74"/>
  <p:tag name="KSO_WM_NEWLAYOUT_GROUP_ID" val="layout_6"/>
  <p:tag name="KSO_WM_NEWLAYOUT_ID" val="slide_2faf873680021aa9"/>
  <p:tag name="KSO_WM_UNIT_PRESET_TEXT" val="单击此处添加标题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9514"/>
  <p:tag name="KSO_WM_TEMPLATE_SLIDE_ID" val="slide_2faf873680021aa9"/>
</p:tagLst>
</file>

<file path=ppt/tags/tag42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96cacd5cb401c52fb14bc226c4590bb705031c4"/>
  <p:tag name="KSO_WM_NEWLAYOUT_ID" val="912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541"/>
  <p:tag name="KSO_WM_TEMPLATE_CATEGORY" val="custom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7463"/>
  <p:tag name="KSO_WM_TEMPLATE_SLIDE_ID" val="slide_cea45c27deb2386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15">
      <a:dk1>
        <a:srgbClr val="000000"/>
      </a:dk1>
      <a:lt1>
        <a:srgbClr val="FFFFFF"/>
      </a:lt1>
      <a:dk2>
        <a:srgbClr val="43435B"/>
      </a:dk2>
      <a:lt2>
        <a:srgbClr val="EBE9F7"/>
      </a:lt2>
      <a:accent1>
        <a:srgbClr val="5C52BA"/>
      </a:accent1>
      <a:accent2>
        <a:srgbClr val="7C65A2"/>
      </a:accent2>
      <a:accent3>
        <a:srgbClr val="9C7889"/>
      </a:accent3>
      <a:accent4>
        <a:srgbClr val="BB8A71"/>
      </a:accent4>
      <a:accent5>
        <a:srgbClr val="DB9D58"/>
      </a:accent5>
      <a:accent6>
        <a:srgbClr val="FBB040"/>
      </a:accent6>
      <a:hlink>
        <a:srgbClr val="000000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演示</Application>
  <PresentationFormat>宽屏</PresentationFormat>
  <Paragraphs>252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MiSans Demibold</vt:lpstr>
      <vt:lpstr>MiSans Medium</vt:lpstr>
      <vt:lpstr>MiSans Normal</vt:lpstr>
      <vt:lpstr>Arial Unicode MS</vt:lpstr>
      <vt:lpstr>Calibri</vt:lpstr>
      <vt:lpstr>Office 主题</vt:lpstr>
      <vt:lpstr>1_Office 主题​​</vt:lpstr>
      <vt:lpstr>基于 YOLO11 的监控视频小目标跟踪系统设计与实现</vt:lpstr>
      <vt:lpstr>目录</vt:lpstr>
      <vt:lpstr>项目背景</vt:lpstr>
      <vt:lpstr>研究背景与意义</vt:lpstr>
      <vt:lpstr>数据集介绍</vt:lpstr>
      <vt:lpstr>数据集选择与处理</vt:lpstr>
      <vt:lpstr>核心改进</vt:lpstr>
      <vt:lpstr>YOLO11s模型架构</vt:lpstr>
      <vt:lpstr>模型改进结构图</vt:lpstr>
      <vt:lpstr>GAM注意力机制集成</vt:lpstr>
      <vt:lpstr>自定义SIoU损失函数</vt:lpstr>
      <vt:lpstr>实验过程及对比</vt:lpstr>
      <vt:lpstr>检测性能指标</vt:lpstr>
      <vt:lpstr>跟踪性能指标</vt:lpstr>
      <vt:lpstr>消融实验</vt:lpstr>
      <vt:lpstr>消融实验</vt:lpstr>
      <vt:lpstr>跟踪实验对比</vt:lpstr>
      <vt:lpstr>可视化分析</vt:lpstr>
      <vt:lpstr>可视化分析</vt:lpstr>
      <vt:lpstr>GUI界面</vt:lpstr>
      <vt:lpstr>系统功能模块</vt:lpstr>
      <vt:lpstr>系统功能模块</vt:lpstr>
      <vt:lpstr>系统功能模块</vt:lpstr>
      <vt:lpstr>系统功能模块</vt:lpstr>
      <vt:lpstr>总结展望</vt:lpstr>
      <vt:lpstr>实验总结和未来展望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YOLOv11 的监控视频小目标跟踪系统设计与实现</dc:title>
  <dc:creator/>
  <cp:lastModifiedBy>令月壹拾壹.</cp:lastModifiedBy>
  <cp:revision>10</cp:revision>
  <dcterms:created xsi:type="dcterms:W3CDTF">2025-12-22T03:48:00Z</dcterms:created>
  <dcterms:modified xsi:type="dcterms:W3CDTF">2025-12-27T08:34:21Z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03110570F65042CE9DE8B27D51A7F9E6_13</vt:lpwstr>
  </property>
  <property fmtid="{D5CDD505-2E9C-101B-9397-08002B2CF9AE}" pid="4" name="KSOTemplateUUID">
    <vt:lpwstr>v1.0_ai_69796637463</vt:lpwstr>
  </property>
</Properties>
</file>